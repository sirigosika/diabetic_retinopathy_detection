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80" r:id="rId5"/>
    <p:sldId id="259" r:id="rId6"/>
    <p:sldId id="260" r:id="rId7"/>
    <p:sldId id="261" r:id="rId8"/>
    <p:sldId id="262" r:id="rId9"/>
    <p:sldId id="279" r:id="rId10"/>
    <p:sldId id="263" r:id="rId11"/>
    <p:sldId id="264" r:id="rId12"/>
    <p:sldId id="265" r:id="rId13"/>
    <p:sldId id="266" r:id="rId14"/>
    <p:sldId id="267" r:id="rId15"/>
    <p:sldId id="268" r:id="rId16"/>
    <p:sldId id="269" r:id="rId17"/>
    <p:sldId id="270" r:id="rId18"/>
    <p:sldId id="271" r:id="rId19"/>
    <p:sldId id="278" r:id="rId20"/>
    <p:sldId id="272" r:id="rId21"/>
    <p:sldId id="273" r:id="rId22"/>
    <p:sldId id="274" r:id="rId23"/>
    <p:sldId id="275" r:id="rId24"/>
    <p:sldId id="276" r:id="rId25"/>
    <p:sldId id="277"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0072BD-B6F7-B5F3-27A9-39B274B88951}" v="44" dt="2026-04-22T16:49:42.745"/>
    <p1510:client id="{FA6A86AF-31B3-498C-8C6B-E937B2434D38}" v="323" dt="2026-04-22T17:01:41.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Samples</c:v>
                </c:pt>
              </c:strCache>
            </c:strRef>
          </c:tx>
          <c:spPr>
            <a:solidFill>
              <a:srgbClr val="0A2540"/>
            </a:solidFill>
            <a:effectLst/>
          </c:spPr>
          <c:invertIfNegative val="0"/>
          <c:dPt>
            <c:idx val="0"/>
            <c:invertIfNegative val="0"/>
            <c:bubble3D val="0"/>
            <c:spPr>
              <a:solidFill>
                <a:srgbClr val="0A2540"/>
              </a:solidFill>
              <a:effectLst/>
            </c:spPr>
            <c:extLst>
              <c:ext xmlns:c16="http://schemas.microsoft.com/office/drawing/2014/chart" uri="{C3380CC4-5D6E-409C-BE32-E72D297353CC}">
                <c16:uniqueId val="{00000001-517F-4F11-92B1-556A77E8F65B}"/>
              </c:ext>
            </c:extLst>
          </c:dPt>
          <c:dPt>
            <c:idx val="1"/>
            <c:invertIfNegative val="0"/>
            <c:bubble3D val="0"/>
            <c:spPr>
              <a:solidFill>
                <a:srgbClr val="0D7A8A"/>
              </a:solidFill>
              <a:effectLst/>
            </c:spPr>
            <c:extLst>
              <c:ext xmlns:c16="http://schemas.microsoft.com/office/drawing/2014/chart" uri="{C3380CC4-5D6E-409C-BE32-E72D297353CC}">
                <c16:uniqueId val="{00000003-517F-4F11-92B1-556A77E8F65B}"/>
              </c:ext>
            </c:extLst>
          </c:dPt>
          <c:dPt>
            <c:idx val="2"/>
            <c:invertIfNegative val="0"/>
            <c:bubble3D val="0"/>
            <c:spPr>
              <a:solidFill>
                <a:srgbClr val="02C39A"/>
              </a:solidFill>
              <a:effectLst/>
            </c:spPr>
            <c:extLst>
              <c:ext xmlns:c16="http://schemas.microsoft.com/office/drawing/2014/chart" uri="{C3380CC4-5D6E-409C-BE32-E72D297353CC}">
                <c16:uniqueId val="{00000005-517F-4F11-92B1-556A77E8F65B}"/>
              </c:ext>
            </c:extLst>
          </c:dPt>
          <c:dPt>
            <c:idx val="3"/>
            <c:invertIfNegative val="0"/>
            <c:bubble3D val="0"/>
            <c:spPr>
              <a:solidFill>
                <a:srgbClr val="E67E22"/>
              </a:solidFill>
              <a:effectLst/>
            </c:spPr>
            <c:extLst>
              <c:ext xmlns:c16="http://schemas.microsoft.com/office/drawing/2014/chart" uri="{C3380CC4-5D6E-409C-BE32-E72D297353CC}">
                <c16:uniqueId val="{00000007-517F-4F11-92B1-556A77E8F65B}"/>
              </c:ext>
            </c:extLst>
          </c:dPt>
          <c:dPt>
            <c:idx val="4"/>
            <c:invertIfNegative val="0"/>
            <c:bubble3D val="0"/>
            <c:spPr>
              <a:solidFill>
                <a:srgbClr val="E74C3C"/>
              </a:solidFill>
              <a:effectLst/>
            </c:spPr>
            <c:extLst>
              <c:ext xmlns:c16="http://schemas.microsoft.com/office/drawing/2014/chart" uri="{C3380CC4-5D6E-409C-BE32-E72D297353CC}">
                <c16:uniqueId val="{00000009-517F-4F11-92B1-556A77E8F65B}"/>
              </c:ext>
            </c:extLst>
          </c:dPt>
          <c:cat>
            <c:strRef>
              <c:f>Sheet1!$A$2:$A$6</c:f>
              <c:strCache>
                <c:ptCount val="5"/>
                <c:pt idx="0">
                  <c:v>No DR</c:v>
                </c:pt>
                <c:pt idx="1">
                  <c:v>Mild</c:v>
                </c:pt>
                <c:pt idx="2">
                  <c:v>Moderate</c:v>
                </c:pt>
                <c:pt idx="3">
                  <c:v>Severe</c:v>
                </c:pt>
                <c:pt idx="4">
                  <c:v>Proliferative</c:v>
                </c:pt>
              </c:strCache>
            </c:strRef>
          </c:cat>
          <c:val>
            <c:numRef>
              <c:f>Sheet1!$B$2:$B$6</c:f>
              <c:numCache>
                <c:formatCode>General</c:formatCode>
                <c:ptCount val="5"/>
                <c:pt idx="0">
                  <c:v>1805</c:v>
                </c:pt>
                <c:pt idx="1">
                  <c:v>370</c:v>
                </c:pt>
                <c:pt idx="2">
                  <c:v>999</c:v>
                </c:pt>
                <c:pt idx="3">
                  <c:v>193</c:v>
                </c:pt>
                <c:pt idx="4">
                  <c:v>295</c:v>
                </c:pt>
              </c:numCache>
            </c:numRef>
          </c:val>
          <c:extLst>
            <c:ext xmlns:c16="http://schemas.microsoft.com/office/drawing/2014/chart" uri="{C3380CC4-5D6E-409C-BE32-E72D297353CC}">
              <c16:uniqueId val="{0000000A-517F-4F11-92B1-556A77E8F65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7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Train Acc</c:v>
                </c:pt>
              </c:strCache>
            </c:strRef>
          </c:tx>
          <c:spPr>
            <a:ln w="31750" cap="flat">
              <a:solidFill>
                <a:srgbClr val="0D7A8A"/>
              </a:solidFill>
              <a:prstDash val="solid"/>
              <a:round/>
            </a:ln>
            <a:effectLst/>
          </c:spPr>
          <c:marker>
            <c:symbol val="circle"/>
            <c:size val="6"/>
            <c:spPr>
              <a:solidFill>
                <a:srgbClr val="0D7A8A"/>
              </a:solidFill>
              <a:ln w="9525" cap="flat">
                <a:solidFill>
                  <a:srgbClr val="0D7A8A"/>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12</c:v>
                </c:pt>
                <c:pt idx="11">
                  <c:v>14</c:v>
                </c:pt>
                <c:pt idx="12">
                  <c:v>16</c:v>
                </c:pt>
                <c:pt idx="13">
                  <c:v>18</c:v>
                </c:pt>
                <c:pt idx="14">
                  <c:v>20</c:v>
                </c:pt>
              </c:strCache>
            </c:strRef>
          </c:cat>
          <c:val>
            <c:numRef>
              <c:f>Sheet1!$B$2:$B$16</c:f>
              <c:numCache>
                <c:formatCode>General</c:formatCode>
                <c:ptCount val="15"/>
                <c:pt idx="0">
                  <c:v>0.52</c:v>
                </c:pt>
                <c:pt idx="1">
                  <c:v>0.6</c:v>
                </c:pt>
                <c:pt idx="2">
                  <c:v>0.67</c:v>
                </c:pt>
                <c:pt idx="3">
                  <c:v>0.72</c:v>
                </c:pt>
                <c:pt idx="4">
                  <c:v>0.76</c:v>
                </c:pt>
                <c:pt idx="5">
                  <c:v>0.79</c:v>
                </c:pt>
                <c:pt idx="6">
                  <c:v>0.81</c:v>
                </c:pt>
                <c:pt idx="7">
                  <c:v>0.83</c:v>
                </c:pt>
                <c:pt idx="8">
                  <c:v>0.85</c:v>
                </c:pt>
                <c:pt idx="9">
                  <c:v>0.86</c:v>
                </c:pt>
                <c:pt idx="10">
                  <c:v>0.88</c:v>
                </c:pt>
                <c:pt idx="11">
                  <c:v>0.89</c:v>
                </c:pt>
                <c:pt idx="12">
                  <c:v>0.9</c:v>
                </c:pt>
                <c:pt idx="13">
                  <c:v>0.91</c:v>
                </c:pt>
                <c:pt idx="14">
                  <c:v>0.91500000000000004</c:v>
                </c:pt>
              </c:numCache>
            </c:numRef>
          </c:val>
          <c:smooth val="1"/>
          <c:extLst>
            <c:ext xmlns:c16="http://schemas.microsoft.com/office/drawing/2014/chart" uri="{C3380CC4-5D6E-409C-BE32-E72D297353CC}">
              <c16:uniqueId val="{00000000-2AA2-4698-B01F-2F16B4BB4D83}"/>
            </c:ext>
          </c:extLst>
        </c:ser>
        <c:ser>
          <c:idx val="1"/>
          <c:order val="1"/>
          <c:tx>
            <c:strRef>
              <c:f>Sheet1!$C$1</c:f>
              <c:strCache>
                <c:ptCount val="1"/>
                <c:pt idx="0">
                  <c:v>Val Acc</c:v>
                </c:pt>
              </c:strCache>
            </c:strRef>
          </c:tx>
          <c:spPr>
            <a:ln w="31750" cap="flat">
              <a:solidFill>
                <a:srgbClr val="E67E22"/>
              </a:solidFill>
              <a:prstDash val="solid"/>
              <a:round/>
            </a:ln>
            <a:effectLst/>
          </c:spPr>
          <c:marker>
            <c:symbol val="circle"/>
            <c:size val="6"/>
            <c:spPr>
              <a:solidFill>
                <a:srgbClr val="E67E22"/>
              </a:solidFill>
              <a:ln w="9525" cap="flat">
                <a:solidFill>
                  <a:srgbClr val="E67E22"/>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12</c:v>
                </c:pt>
                <c:pt idx="11">
                  <c:v>14</c:v>
                </c:pt>
                <c:pt idx="12">
                  <c:v>16</c:v>
                </c:pt>
                <c:pt idx="13">
                  <c:v>18</c:v>
                </c:pt>
                <c:pt idx="14">
                  <c:v>20</c:v>
                </c:pt>
              </c:strCache>
            </c:strRef>
          </c:cat>
          <c:val>
            <c:numRef>
              <c:f>Sheet1!$C$2:$C$16</c:f>
              <c:numCache>
                <c:formatCode>General</c:formatCode>
                <c:ptCount val="15"/>
                <c:pt idx="0">
                  <c:v>0.5</c:v>
                </c:pt>
                <c:pt idx="1">
                  <c:v>0.56999999999999995</c:v>
                </c:pt>
                <c:pt idx="2">
                  <c:v>0.64</c:v>
                </c:pt>
                <c:pt idx="3">
                  <c:v>0.7</c:v>
                </c:pt>
                <c:pt idx="4">
                  <c:v>0.74</c:v>
                </c:pt>
                <c:pt idx="5">
                  <c:v>0.77</c:v>
                </c:pt>
                <c:pt idx="6">
                  <c:v>0.8</c:v>
                </c:pt>
                <c:pt idx="7">
                  <c:v>0.82</c:v>
                </c:pt>
                <c:pt idx="8">
                  <c:v>0.84</c:v>
                </c:pt>
                <c:pt idx="9">
                  <c:v>0.85</c:v>
                </c:pt>
                <c:pt idx="10">
                  <c:v>0.87</c:v>
                </c:pt>
                <c:pt idx="11">
                  <c:v>0.88</c:v>
                </c:pt>
                <c:pt idx="12">
                  <c:v>0.89</c:v>
                </c:pt>
                <c:pt idx="13">
                  <c:v>0.9</c:v>
                </c:pt>
                <c:pt idx="14">
                  <c:v>0.91200000000000003</c:v>
                </c:pt>
              </c:numCache>
            </c:numRef>
          </c:val>
          <c:smooth val="1"/>
          <c:extLst>
            <c:ext xmlns:c16="http://schemas.microsoft.com/office/drawing/2014/chart" uri="{C3380CC4-5D6E-409C-BE32-E72D297353CC}">
              <c16:uniqueId val="{00000001-2AA2-4698-B01F-2F16B4BB4D8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0F7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Train QWK</c:v>
                </c:pt>
              </c:strCache>
            </c:strRef>
          </c:tx>
          <c:spPr>
            <a:ln w="31750" cap="flat">
              <a:solidFill>
                <a:srgbClr val="8E44AD"/>
              </a:solidFill>
              <a:prstDash val="solid"/>
              <a:round/>
            </a:ln>
            <a:effectLst/>
          </c:spPr>
          <c:marker>
            <c:symbol val="circle"/>
            <c:size val="6"/>
            <c:spPr>
              <a:solidFill>
                <a:srgbClr val="8E44AD"/>
              </a:solidFill>
              <a:ln w="9525" cap="flat">
                <a:solidFill>
                  <a:srgbClr val="8E44AD"/>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12</c:v>
                </c:pt>
                <c:pt idx="11">
                  <c:v>14</c:v>
                </c:pt>
                <c:pt idx="12">
                  <c:v>16</c:v>
                </c:pt>
                <c:pt idx="13">
                  <c:v>18</c:v>
                </c:pt>
                <c:pt idx="14">
                  <c:v>20</c:v>
                </c:pt>
              </c:strCache>
            </c:strRef>
          </c:cat>
          <c:val>
            <c:numRef>
              <c:f>Sheet1!$B$2:$B$16</c:f>
              <c:numCache>
                <c:formatCode>General</c:formatCode>
                <c:ptCount val="15"/>
                <c:pt idx="0">
                  <c:v>0.4</c:v>
                </c:pt>
                <c:pt idx="1">
                  <c:v>0.52</c:v>
                </c:pt>
                <c:pt idx="2">
                  <c:v>0.6</c:v>
                </c:pt>
                <c:pt idx="3">
                  <c:v>0.66</c:v>
                </c:pt>
                <c:pt idx="4">
                  <c:v>0.71</c:v>
                </c:pt>
                <c:pt idx="5">
                  <c:v>0.75</c:v>
                </c:pt>
                <c:pt idx="6">
                  <c:v>0.78</c:v>
                </c:pt>
                <c:pt idx="7">
                  <c:v>0.81</c:v>
                </c:pt>
                <c:pt idx="8">
                  <c:v>0.84</c:v>
                </c:pt>
                <c:pt idx="9">
                  <c:v>0.86</c:v>
                </c:pt>
                <c:pt idx="10">
                  <c:v>0.89</c:v>
                </c:pt>
                <c:pt idx="11">
                  <c:v>0.91</c:v>
                </c:pt>
                <c:pt idx="12">
                  <c:v>0.93</c:v>
                </c:pt>
                <c:pt idx="13">
                  <c:v>0.95</c:v>
                </c:pt>
                <c:pt idx="14">
                  <c:v>0.96</c:v>
                </c:pt>
              </c:numCache>
            </c:numRef>
          </c:val>
          <c:smooth val="1"/>
          <c:extLst>
            <c:ext xmlns:c16="http://schemas.microsoft.com/office/drawing/2014/chart" uri="{C3380CC4-5D6E-409C-BE32-E72D297353CC}">
              <c16:uniqueId val="{00000000-A77C-4787-A999-28982C01716D}"/>
            </c:ext>
          </c:extLst>
        </c:ser>
        <c:ser>
          <c:idx val="1"/>
          <c:order val="1"/>
          <c:tx>
            <c:strRef>
              <c:f>Sheet1!$C$1</c:f>
              <c:strCache>
                <c:ptCount val="1"/>
                <c:pt idx="0">
                  <c:v>Val QWK</c:v>
                </c:pt>
              </c:strCache>
            </c:strRef>
          </c:tx>
          <c:spPr>
            <a:ln w="31750" cap="flat">
              <a:solidFill>
                <a:srgbClr val="02C39A"/>
              </a:solidFill>
              <a:prstDash val="solid"/>
              <a:round/>
            </a:ln>
            <a:effectLst/>
          </c:spPr>
          <c:marker>
            <c:symbol val="circle"/>
            <c:size val="6"/>
            <c:spPr>
              <a:solidFill>
                <a:srgbClr val="02C39A"/>
              </a:solidFill>
              <a:ln w="9525" cap="flat">
                <a:solidFill>
                  <a:srgbClr val="02C39A"/>
                </a:solidFill>
                <a:prstDash val="solid"/>
                <a:round/>
              </a:ln>
              <a:effectLst/>
            </c:spPr>
          </c:marker>
          <c:cat>
            <c:strRef>
              <c:f>Sheet1!$A$2:$A$16</c:f>
              <c:strCache>
                <c:ptCount val="15"/>
                <c:pt idx="0">
                  <c:v>1</c:v>
                </c:pt>
                <c:pt idx="1">
                  <c:v>2</c:v>
                </c:pt>
                <c:pt idx="2">
                  <c:v>3</c:v>
                </c:pt>
                <c:pt idx="3">
                  <c:v>4</c:v>
                </c:pt>
                <c:pt idx="4">
                  <c:v>5</c:v>
                </c:pt>
                <c:pt idx="5">
                  <c:v>6</c:v>
                </c:pt>
                <c:pt idx="6">
                  <c:v>7</c:v>
                </c:pt>
                <c:pt idx="7">
                  <c:v>8</c:v>
                </c:pt>
                <c:pt idx="8">
                  <c:v>9</c:v>
                </c:pt>
                <c:pt idx="9">
                  <c:v>10</c:v>
                </c:pt>
                <c:pt idx="10">
                  <c:v>12</c:v>
                </c:pt>
                <c:pt idx="11">
                  <c:v>14</c:v>
                </c:pt>
                <c:pt idx="12">
                  <c:v>16</c:v>
                </c:pt>
                <c:pt idx="13">
                  <c:v>18</c:v>
                </c:pt>
                <c:pt idx="14">
                  <c:v>20</c:v>
                </c:pt>
              </c:strCache>
            </c:strRef>
          </c:cat>
          <c:val>
            <c:numRef>
              <c:f>Sheet1!$C$2:$C$16</c:f>
              <c:numCache>
                <c:formatCode>General</c:formatCode>
                <c:ptCount val="15"/>
                <c:pt idx="0">
                  <c:v>0.38</c:v>
                </c:pt>
                <c:pt idx="1">
                  <c:v>0.5</c:v>
                </c:pt>
                <c:pt idx="2">
                  <c:v>0.57999999999999996</c:v>
                </c:pt>
                <c:pt idx="3">
                  <c:v>0.64</c:v>
                </c:pt>
                <c:pt idx="4">
                  <c:v>0.69</c:v>
                </c:pt>
                <c:pt idx="5">
                  <c:v>0.73</c:v>
                </c:pt>
                <c:pt idx="6">
                  <c:v>0.77</c:v>
                </c:pt>
                <c:pt idx="7">
                  <c:v>0.8</c:v>
                </c:pt>
                <c:pt idx="8">
                  <c:v>0.83</c:v>
                </c:pt>
                <c:pt idx="9">
                  <c:v>0.85</c:v>
                </c:pt>
                <c:pt idx="10">
                  <c:v>0.88</c:v>
                </c:pt>
                <c:pt idx="11">
                  <c:v>0.9</c:v>
                </c:pt>
                <c:pt idx="12">
                  <c:v>0.92</c:v>
                </c:pt>
                <c:pt idx="13">
                  <c:v>0.94</c:v>
                </c:pt>
                <c:pt idx="14">
                  <c:v>0.9718</c:v>
                </c:pt>
              </c:numCache>
            </c:numRef>
          </c:val>
          <c:smooth val="1"/>
          <c:extLst>
            <c:ext xmlns:c16="http://schemas.microsoft.com/office/drawing/2014/chart" uri="{C3380CC4-5D6E-409C-BE32-E72D297353CC}">
              <c16:uniqueId val="{00000001-A77C-4787-A999-28982C01716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0F7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206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ReGraNet — a novel deep learning framework for automated Diabetic Retinopathy grading. This work comes from SVNIT Surat and combines three powerful AI paradigms: CNNs, Graph Neural Networks, and Transformers — to achieve state-of-the-art performance on retinal image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affects over 537 million diabetics worldwide. One in three diabetics develops DR, and while 90% of vision loss is preventable with early detection, manual screening is simply not scalable. Each existing AI approach has blind spots — CNNs miss vessel structure, Transformers miss anatomical priors, GNNs miss appearance cues. ReGraNet addresses all three gaps simultaneously.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prior approach covers only part of the problem. Traditional methods generalize poorly. CNNs miss structure. Transformers ignore vessel anatomy. GNNs miss appearance. ReGraNet is the first to unify all three in a single end-to-end architecture with dedicated cross-modal attention, filling this gap in literature.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E2091-8EC2-A65F-C26E-CF44FD144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8AC07-B977-A2DC-0B46-D47AF2134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E9B232-F694-53A6-750E-DBF879936980}"/>
              </a:ext>
            </a:extLst>
          </p:cNvPr>
          <p:cNvSpPr>
            <a:spLocks noGrp="1"/>
          </p:cNvSpPr>
          <p:nvPr>
            <p:ph type="body" idx="1"/>
          </p:nvPr>
        </p:nvSpPr>
        <p:spPr/>
        <p:txBody>
          <a:bodyPr/>
          <a:lstStyle/>
          <a:p>
            <a:r>
              <a:rPr lang="en-US" dirty="0"/>
              <a:t>DR affects over 537 million diabetics worldwide. One in three diabetics develops DR, and while 90% of vision loss is preventable with early detection, manual screening is simply not scalable. Each existing AI approach has blind spots — CNNs miss vessel structure, Transformers miss anatomical priors, GNNs miss appearance cues. ReGraNet addresses all three gaps simultaneously.</a:t>
            </a:r>
          </a:p>
        </p:txBody>
      </p:sp>
      <p:sp>
        <p:nvSpPr>
          <p:cNvPr id="4" name="Slide Number Placeholder 3">
            <a:extLst>
              <a:ext uri="{FF2B5EF4-FFF2-40B4-BE49-F238E27FC236}">
                <a16:creationId xmlns:a16="http://schemas.microsoft.com/office/drawing/2014/main" id="{4E3F7372-7509-FAD5-2F1C-0AECD5964E6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104647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APTOS 2019 dataset, a well-established benchmark from Kaggle. It has 5 severity classes following the International Clinical DR Scale. Notice the significant class imbalance — No DR and Moderate cases dominate. We address this with weighted cross-entropy loss during training.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ReGraNet processes each fundus image through a 6-stage pipeline. After preprocessing and vessel graph construction, three parallel branches extract complementary features simultaneously. A bidirectional cross-attention bridge enables GNN and Transformer branches to communicate, after which all features are concatenated and fed to an MLP for final 5-class DR prediction.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is crucial because fundus images come from different cameras with varying illumination and contrast. CLAHE is especially important — it works on localized tiles rather than the whole image, preventing noise amplification while significantly improving visibility of tiny microaneurysms. Augmentation ensures the model sees diverse imaging conditions during training.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Vessel graph construction is a key innovation. We first extract a binary vessel mask using Frangi vesselness filtering — a technique that analyzes Hessian matrix eigenvalues to detect tubular structures. We then skeletonize and identify junction points as graph nodes. A k-NN strategy creates edges between spatially close junctions, encoding real vascular topology that has direct clinical significance.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CNN branch uses EfficientNet-B4, chosen for its compound scaling efficiency. The key addition is Feature Pyramid Network fusion — this allows detection of microaneurysms that are just a few pixels wide AND large hemorrhagic regions within the same image, which is a fundamental challenge in retinal analysis. The final GAP produces a 1792-dimensional lesion-aware embedding.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GNN branch uses Graph Attention Networks, which are perfect for retinal vessel graphs. Unlike regular GNNs that weight all neighbors equally, GATs learn which vessel junctions are most important for disease classification. Multiple attention heads learn complementary structural patterns — one head might focus on dense branching regions while another tracks abnormal peripheral connectivity. This is the first time such explicit vascular topology reasoning has been integrated into a full DR grading pipeline.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Transformer branch addresses a key limitation of CNNs — their inability to capture long-range dependencies. By treating the image as a sequence of patches and applying self-attention, every patch can attend to every other patch in the image. This is critical for advanced DR where pathology is distributed across multiple retinal quadrants. Think of the three branches as answering three different questions: CNN asks WHERE are lesions, GNN asks HOW is the vasculature affected, and Transformer asks WHAT is the overall distribution of disease.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bidirectional cross-attention bridge is a novel contribution. Independent learning would leave the GNN and Transformer branches isolated. Instead, we allow them to communicate: the graph embedding attends over Transformer tokens to absorb global context, while Transformer tokens attend over graph nodes to absorb vascular structure. This mutual refinement is validated by our ablation study — removing it drops accuracy by 1.8 points and QWK by 0.02.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training strategy is carefully designed for the challenges of medical image classification. AdamW with cosine annealing provides stable optimization. The linear warm-up is specifically important for Transformer components, which are sensitive to large early gradients. Weighted cross-entropy is critical because No DR images outnumber Proliferative DR by nearly 10:1 — without class weights, the model would ignore rare but critical severe cases. Mixed-precision training allows larger batch sizes on the A100 GPU.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ReGraNet achieves best scores on ALL metrics simultaneously. The 7.3 percentage point gain over ResNet50 is substantial. Most important clinically: the QWK of 0.96 means grading errors are almost always between adjacent severity levels, not large jumps. The 0.98 specificity means very few healthy patients are incorrectly flagged, reducing unnecessary clinic visits. The 38% relative error reduction over the best baseline reflects the compounding benefit of multimodal integration.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ablation study rigorously validates each design choice. Notice that GNN-only is the weakest configuration — graphs without appearance cues struggle. However, adding GNN to CNN+Transformer gives +3.2% — confirming unique information from vessel topology. The cross-attention bridge contribution of 1.8% might seem small, but it represents meaningful clinical improvement in a medical screening context.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ReGraNet achieves new state-of-the-art across all three key metrics. Compared to the best prior hybrid method by Liu et al. — which combined CNN and Transformer but lacked GNN — we gain 2.9 percentage points. The QWK of 0.96 is particularly remarkable: no prior method exceeded 0.93 on this benchmark. The key differentiator is explicit retinal vessel graph reasoning, which no prior method incorporated in an end-to-end trainable architecture.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Explainability is critical for clinical adoption. Our framework provides two levels of visual evidence. Grad-CAM from the CNN highlights exactly which retinal regions influenced the decision — and these correspond perfectly to known clinical signs. The Transformer attention rollout shows an interesting progression: for early disease, attention is focused on specific lesion areas, but for advanced Proliferative DR, attention spreads across the entire fundus, reflecting the diffuse nature of late-stage disease. These visualizations build clinician trust without requiring manual annotation of lesion locations.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dynamics show healthy convergence behavior. The close tracking of training and validation curves across all 20 epochs confirms that our regularization strategy — dropout, data augmentation, and cosine annealing — effectively prevents overfitting despite the complexity of the three-branch architecture. The QWK metric is particularly encouraging: it rapidly improves early in training, indicating that the ordinal structure of DR severity is being learned effectively from the beginning.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ReGraNet has clear strengths, particularly in explicit anatomical reasoning and clinical interpretability. The main limitation is Mild DR recall at 0.80 — this reflects a fundamental clinical challenge: early microaneurysms can be nearly indistinguishable from normal retinal variation even for experienced ophthalmologists. This is not unique to our model — it's reported across all deep learning DR studies. Other limitations include single-dataset validation and higher computational cost, both of which are targets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ReGraNet has direct real-world applications. The cloud API deployment model is particularly valuable for low-resource settings — a primary care clinic needs only a standard fundus camera and internet connection. The human-in-the-loop design, where clinicians review AI heatmaps, is the preferred deployment model for regulatory approval. Future edge deployment via model compression could bring DR screening to areas without reliable internet — a transformative capability for global health.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ReGraNet demonstrates that diabetic retinopathy grading is a multimodal spatial reasoning problem. By jointly integrating CNN for local lesion detection, GNN for vascular topology reasoning, and Transformer for global context modeling — connected by a bidirectional cross-attention bridge — we achieve state-of-the-art performance while also providing clinically meaningful visual explanations. This work opens a new direction for anatomy-grounded multimodal medical imaging AI.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we see six key directions. The most impactful near-term improvement is likely self-supervised pretraining — using the large unlabeled retinal image corpus to boost Mild DR recall. Multi-modal imaging with OCT would provide 3D structural information that 2D fundus photography fundamentally cannot capture. Edge deployment would democratize screening to the most underserved populations. And finally, longitudinal analysis — tracking disease progression over time — represents a frontier that current snapshot-based methods simply cannot address.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We've presented ReGraNet — a novel multimodal deep learning framework that jointly integrates CNN, GNN, and Transformer branches for state-of-the-art diabetic retinopathy grading. We'd be happy to take any questions about the architecture, experimental setup, or clinical deployment considerations.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548640" y="502920"/>
            <a:ext cx="8046720" cy="91440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ReGraNet</a:t>
            </a:r>
            <a:endParaRPr lang="en-US" sz="5200" dirty="0"/>
          </a:p>
        </p:txBody>
      </p:sp>
      <p:sp>
        <p:nvSpPr>
          <p:cNvPr id="4" name="Text 2"/>
          <p:cNvSpPr/>
          <p:nvPr/>
        </p:nvSpPr>
        <p:spPr>
          <a:xfrm>
            <a:off x="548640" y="1417320"/>
            <a:ext cx="8046720" cy="777240"/>
          </a:xfrm>
          <a:prstGeom prst="rect">
            <a:avLst/>
          </a:prstGeom>
          <a:noFill/>
          <a:ln/>
        </p:spPr>
        <p:txBody>
          <a:bodyPr wrap="square" rtlCol="0" anchor="ctr"/>
          <a:lstStyle/>
          <a:p>
            <a:pPr marL="0" indent="0" algn="ctr">
              <a:buNone/>
            </a:pPr>
            <a:r>
              <a:rPr lang="en-US" sz="2000" dirty="0">
                <a:solidFill>
                  <a:srgbClr val="A8D8E8"/>
                </a:solidFill>
                <a:latin typeface="Calibri" pitchFamily="34" charset="0"/>
                <a:ea typeface="Calibri" pitchFamily="34" charset="-122"/>
                <a:cs typeface="Calibri" pitchFamily="34" charset="-120"/>
              </a:rPr>
              <a:t>A Retinal Graph Reasoning Network for</a:t>
            </a:r>
            <a:endParaRPr lang="en-US" sz="2000" dirty="0"/>
          </a:p>
          <a:p>
            <a:pPr marL="0" indent="0" algn="ctr">
              <a:buNone/>
            </a:pPr>
            <a:r>
              <a:rPr lang="en-US" sz="2000" dirty="0">
                <a:solidFill>
                  <a:srgbClr val="A8D8E8"/>
                </a:solidFill>
                <a:latin typeface="Calibri" pitchFamily="34" charset="0"/>
                <a:ea typeface="Calibri" pitchFamily="34" charset="-122"/>
                <a:cs typeface="Calibri" pitchFamily="34" charset="-120"/>
              </a:rPr>
              <a:t>Diabetic Retinopathy Grading</a:t>
            </a:r>
            <a:endParaRPr lang="en-US" sz="2000" dirty="0"/>
          </a:p>
        </p:txBody>
      </p:sp>
      <p:sp>
        <p:nvSpPr>
          <p:cNvPr id="5" name="Shape 3"/>
          <p:cNvSpPr/>
          <p:nvPr/>
        </p:nvSpPr>
        <p:spPr>
          <a:xfrm>
            <a:off x="1371600" y="2377440"/>
            <a:ext cx="6400800" cy="1234440"/>
          </a:xfrm>
          <a:prstGeom prst="rect">
            <a:avLst/>
          </a:prstGeom>
          <a:solidFill>
            <a:srgbClr val="0D7A8A">
              <a:alpha val="70000"/>
            </a:srgbClr>
          </a:solidFill>
          <a:ln w="12700">
            <a:solidFill>
              <a:srgbClr val="0D7A8A"/>
            </a:solidFill>
            <a:prstDash val="solid"/>
          </a:ln>
          <a:effectLst>
            <a:outerShdw blurRad="63500" dist="25400" dir="8100000" algn="bl" rotWithShape="0">
              <a:srgbClr val="000000">
                <a:alpha val="12000"/>
              </a:srgbClr>
            </a:outerShdw>
          </a:effectLst>
        </p:spPr>
      </p:sp>
      <p:sp>
        <p:nvSpPr>
          <p:cNvPr id="6" name="Text 4"/>
          <p:cNvSpPr/>
          <p:nvPr/>
        </p:nvSpPr>
        <p:spPr>
          <a:xfrm>
            <a:off x="1371600" y="2395728"/>
            <a:ext cx="6400800" cy="118872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Ridham Chaudhary  ·  Divyavardhan Singh  ·  Sirichandana</a:t>
            </a:r>
          </a:p>
          <a:p>
            <a:pPr marL="0" indent="0" algn="ctr">
              <a:buNone/>
            </a:pPr>
            <a:r>
              <a:rPr lang="en-US" sz="1300" dirty="0">
                <a:solidFill>
                  <a:srgbClr val="FFFFFF"/>
                </a:solidFill>
                <a:latin typeface="Calibri" pitchFamily="34" charset="0"/>
                <a:ea typeface="Calibri" pitchFamily="34" charset="-122"/>
                <a:cs typeface="Calibri" pitchFamily="34" charset="-120"/>
              </a:rPr>
              <a:t>Prof  Kishor Upla</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Dept. of Electronics Engineering, SVNIT Surat, India</a:t>
            </a:r>
            <a:endParaRPr lang="en-US" sz="1300" dirty="0"/>
          </a:p>
        </p:txBody>
      </p:sp>
      <p:sp>
        <p:nvSpPr>
          <p:cNvPr id="15" name="Text 13"/>
          <p:cNvSpPr/>
          <p:nvPr/>
        </p:nvSpPr>
        <p:spPr>
          <a:xfrm>
            <a:off x="0" y="4754880"/>
            <a:ext cx="9144000" cy="274320"/>
          </a:xfrm>
          <a:prstGeom prst="rect">
            <a:avLst/>
          </a:prstGeom>
          <a:noFill/>
          <a:ln/>
        </p:spPr>
        <p:txBody>
          <a:bodyPr wrap="square" rtlCol="0" anchor="ctr"/>
          <a:lstStyle/>
          <a:p>
            <a:pPr marL="0" indent="0" algn="ctr">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r>
              <a:rPr lang="en-IN" sz="2800" dirty="0"/>
              <a:t>Problem &amp; Motivation</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457200" y="960120"/>
            <a:ext cx="2651760" cy="1371600"/>
          </a:xfrm>
          <a:prstGeom prst="rect">
            <a:avLst/>
          </a:prstGeom>
          <a:solidFill>
            <a:srgbClr val="0A2540"/>
          </a:solidFill>
          <a:ln w="12700">
            <a:solidFill>
              <a:srgbClr val="0A2540"/>
            </a:solidFill>
            <a:prstDash val="solid"/>
          </a:ln>
          <a:effectLst>
            <a:outerShdw blurRad="63500" dist="25400" dir="8100000" algn="bl" rotWithShape="0">
              <a:srgbClr val="000000">
                <a:alpha val="12000"/>
              </a:srgbClr>
            </a:outerShdw>
          </a:effectLst>
        </p:spPr>
      </p:sp>
      <p:sp>
        <p:nvSpPr>
          <p:cNvPr id="6" name="Text 4"/>
          <p:cNvSpPr/>
          <p:nvPr/>
        </p:nvSpPr>
        <p:spPr>
          <a:xfrm>
            <a:off x="457200" y="987552"/>
            <a:ext cx="2651760" cy="713232"/>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537M</a:t>
            </a:r>
            <a:endParaRPr lang="en-US" sz="3200" dirty="0"/>
          </a:p>
        </p:txBody>
      </p:sp>
      <p:sp>
        <p:nvSpPr>
          <p:cNvPr id="7" name="Text 5"/>
          <p:cNvSpPr/>
          <p:nvPr/>
        </p:nvSpPr>
        <p:spPr>
          <a:xfrm>
            <a:off x="457200" y="1664208"/>
            <a:ext cx="2651760" cy="621792"/>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Adults with</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Diabetes Worldwide</a:t>
            </a:r>
            <a:endParaRPr lang="en-US" sz="1200" dirty="0"/>
          </a:p>
        </p:txBody>
      </p:sp>
      <p:sp>
        <p:nvSpPr>
          <p:cNvPr id="8" name="Shape 6"/>
          <p:cNvSpPr/>
          <p:nvPr/>
        </p:nvSpPr>
        <p:spPr>
          <a:xfrm>
            <a:off x="3355848" y="960120"/>
            <a:ext cx="2651760" cy="1371600"/>
          </a:xfrm>
          <a:prstGeom prst="rect">
            <a:avLst/>
          </a:prstGeom>
          <a:solidFill>
            <a:srgbClr val="0D7A8A"/>
          </a:solidFill>
          <a:ln w="12700">
            <a:solidFill>
              <a:srgbClr val="0D7A8A"/>
            </a:solidFill>
            <a:prstDash val="solid"/>
          </a:ln>
          <a:effectLst>
            <a:outerShdw blurRad="63500" dist="25400" dir="8100000" algn="bl" rotWithShape="0">
              <a:srgbClr val="000000">
                <a:alpha val="12000"/>
              </a:srgbClr>
            </a:outerShdw>
          </a:effectLst>
        </p:spPr>
      </p:sp>
      <p:sp>
        <p:nvSpPr>
          <p:cNvPr id="9" name="Text 7"/>
          <p:cNvSpPr/>
          <p:nvPr/>
        </p:nvSpPr>
        <p:spPr>
          <a:xfrm>
            <a:off x="3355848" y="987552"/>
            <a:ext cx="2651760" cy="713232"/>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 in 3</a:t>
            </a:r>
            <a:endParaRPr lang="en-US" sz="3200" dirty="0"/>
          </a:p>
        </p:txBody>
      </p:sp>
      <p:sp>
        <p:nvSpPr>
          <p:cNvPr id="10" name="Text 8"/>
          <p:cNvSpPr/>
          <p:nvPr/>
        </p:nvSpPr>
        <p:spPr>
          <a:xfrm>
            <a:off x="3355848" y="1664208"/>
            <a:ext cx="2651760" cy="621792"/>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Diabetic patients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develop DR</a:t>
            </a:r>
            <a:endParaRPr lang="en-US" sz="1200" dirty="0"/>
          </a:p>
        </p:txBody>
      </p:sp>
      <p:sp>
        <p:nvSpPr>
          <p:cNvPr id="11" name="Shape 9"/>
          <p:cNvSpPr/>
          <p:nvPr/>
        </p:nvSpPr>
        <p:spPr>
          <a:xfrm>
            <a:off x="6254496" y="960120"/>
            <a:ext cx="2651760" cy="1371600"/>
          </a:xfrm>
          <a:prstGeom prst="rect">
            <a:avLst/>
          </a:prstGeom>
          <a:solidFill>
            <a:srgbClr val="E74C3C"/>
          </a:solidFill>
          <a:ln w="12700">
            <a:solidFill>
              <a:srgbClr val="E74C3C"/>
            </a:solidFill>
            <a:prstDash val="solid"/>
          </a:ln>
          <a:effectLst>
            <a:outerShdw blurRad="63500" dist="25400" dir="8100000" algn="bl" rotWithShape="0">
              <a:srgbClr val="000000">
                <a:alpha val="12000"/>
              </a:srgbClr>
            </a:outerShdw>
          </a:effectLst>
        </p:spPr>
      </p:sp>
      <p:sp>
        <p:nvSpPr>
          <p:cNvPr id="12" name="Text 10"/>
          <p:cNvSpPr/>
          <p:nvPr/>
        </p:nvSpPr>
        <p:spPr>
          <a:xfrm>
            <a:off x="6254496" y="987552"/>
            <a:ext cx="2651760" cy="713232"/>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90%</a:t>
            </a:r>
            <a:endParaRPr lang="en-US" sz="3200" dirty="0"/>
          </a:p>
        </p:txBody>
      </p:sp>
      <p:sp>
        <p:nvSpPr>
          <p:cNvPr id="13" name="Text 11"/>
          <p:cNvSpPr/>
          <p:nvPr/>
        </p:nvSpPr>
        <p:spPr>
          <a:xfrm>
            <a:off x="6254496" y="1664208"/>
            <a:ext cx="2651760" cy="621792"/>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Vision loss cases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are preventable</a:t>
            </a:r>
            <a:endParaRPr lang="en-US" sz="1200" dirty="0"/>
          </a:p>
        </p:txBody>
      </p:sp>
      <p:sp>
        <p:nvSpPr>
          <p:cNvPr id="15" name="Text 13"/>
          <p:cNvSpPr/>
          <p:nvPr/>
        </p:nvSpPr>
        <p:spPr>
          <a:xfrm>
            <a:off x="502920" y="2571750"/>
            <a:ext cx="8138160" cy="2384297"/>
          </a:xfrm>
          <a:prstGeom prst="rect">
            <a:avLst/>
          </a:prstGeom>
          <a:noFill/>
          <a:ln/>
        </p:spPr>
        <p:txBody>
          <a:bodyPr wrap="square" rtlCol="0" anchor="ctr"/>
          <a:lstStyle/>
          <a:p>
            <a:pPr marL="342900" indent="-342900">
              <a:buSzPct val="100000"/>
              <a:buChar char="•"/>
            </a:pPr>
            <a:r>
              <a:rPr lang="en-GB" sz="1600" dirty="0"/>
              <a:t>Diabetic Retinopathy (DR) → Leading cause of preventable blindness</a:t>
            </a:r>
            <a:r>
              <a:rPr lang="en-US" sz="1500" dirty="0">
                <a:solidFill>
                  <a:srgbClr val="1E293B"/>
                </a:solidFill>
                <a:latin typeface="Calibri" pitchFamily="34" charset="0"/>
                <a:ea typeface="Calibri" pitchFamily="34" charset="-122"/>
                <a:cs typeface="Calibri" pitchFamily="34" charset="-120"/>
              </a:rPr>
              <a:t>Limited access to ophthalmologists in rural and low-resource settings</a:t>
            </a:r>
          </a:p>
          <a:p>
            <a:pPr marL="342900" indent="-342900">
              <a:buSzPct val="100000"/>
              <a:buChar char="•"/>
            </a:pPr>
            <a:r>
              <a:rPr lang="en-GB" sz="1600" dirty="0"/>
              <a:t>Early detection is critical (damage is irreversible in later stages)</a:t>
            </a:r>
          </a:p>
          <a:p>
            <a:pPr marL="342900" indent="-342900">
              <a:buSzPct val="100000"/>
              <a:buFontTx/>
              <a:buChar char="•"/>
            </a:pPr>
            <a:r>
              <a:rPr lang="en-GB" sz="1400" dirty="0"/>
              <a:t> Manual screening:</a:t>
            </a:r>
            <a:endParaRPr lang="en-GB" sz="1600" dirty="0"/>
          </a:p>
          <a:p>
            <a:r>
              <a:rPr lang="en-GB" sz="1600" dirty="0"/>
              <a:t>              Time-consuming </a:t>
            </a:r>
          </a:p>
          <a:p>
            <a:r>
              <a:rPr lang="en-GB" sz="1600" dirty="0"/>
              <a:t>              Requires expert doctors  </a:t>
            </a:r>
          </a:p>
          <a:p>
            <a:r>
              <a:rPr lang="en-GB" sz="1600" dirty="0"/>
              <a:t>              Not scalable (especially rural areas)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Background: Prior Approaches &amp; Their Gaps</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457200" y="960120"/>
            <a:ext cx="4114800" cy="1691640"/>
          </a:xfrm>
          <a:prstGeom prst="rect">
            <a:avLst/>
          </a:prstGeom>
          <a:solidFill>
            <a:srgbClr val="F0F7FA"/>
          </a:solidFill>
          <a:ln w="25400">
            <a:solidFill>
              <a:srgbClr val="64748B"/>
            </a:solidFill>
            <a:prstDash val="solid"/>
          </a:ln>
          <a:effectLst>
            <a:outerShdw blurRad="63500" dist="25400" dir="8100000" algn="bl" rotWithShape="0">
              <a:srgbClr val="000000">
                <a:alpha val="12000"/>
              </a:srgbClr>
            </a:outerShdw>
          </a:effectLst>
        </p:spPr>
      </p:sp>
      <p:sp>
        <p:nvSpPr>
          <p:cNvPr id="6" name="Shape 4"/>
          <p:cNvSpPr/>
          <p:nvPr/>
        </p:nvSpPr>
        <p:spPr>
          <a:xfrm>
            <a:off x="457200" y="960120"/>
            <a:ext cx="73152" cy="1691640"/>
          </a:xfrm>
          <a:prstGeom prst="rect">
            <a:avLst/>
          </a:prstGeom>
          <a:solidFill>
            <a:srgbClr val="64748B"/>
          </a:solidFill>
          <a:ln w="12700">
            <a:solidFill>
              <a:srgbClr val="64748B"/>
            </a:solidFill>
            <a:prstDash val="solid"/>
          </a:ln>
        </p:spPr>
      </p:sp>
      <p:sp>
        <p:nvSpPr>
          <p:cNvPr id="7" name="Text 5"/>
          <p:cNvSpPr/>
          <p:nvPr/>
        </p:nvSpPr>
        <p:spPr>
          <a:xfrm>
            <a:off x="621792" y="1069848"/>
            <a:ext cx="3840480" cy="320040"/>
          </a:xfrm>
          <a:prstGeom prst="rect">
            <a:avLst/>
          </a:prstGeom>
          <a:noFill/>
          <a:ln/>
        </p:spPr>
        <p:txBody>
          <a:bodyPr wrap="square" lIns="0" tIns="0" rIns="0" bIns="0" rtlCol="0" anchor="ctr"/>
          <a:lstStyle/>
          <a:p>
            <a:pPr marL="0" indent="0">
              <a:buNone/>
            </a:pPr>
            <a:r>
              <a:rPr lang="en-US" sz="1300" b="1" dirty="0">
                <a:solidFill>
                  <a:srgbClr val="64748B"/>
                </a:solidFill>
                <a:latin typeface="Calibri" pitchFamily="34" charset="0"/>
                <a:ea typeface="Calibri" pitchFamily="34" charset="-122"/>
                <a:cs typeface="Calibri" pitchFamily="34" charset="-120"/>
              </a:rPr>
              <a:t>Traditional Methods</a:t>
            </a:r>
            <a:endParaRPr lang="en-US" sz="1300" dirty="0"/>
          </a:p>
        </p:txBody>
      </p:sp>
      <p:sp>
        <p:nvSpPr>
          <p:cNvPr id="8" name="Text 6"/>
          <p:cNvSpPr/>
          <p:nvPr/>
        </p:nvSpPr>
        <p:spPr>
          <a:xfrm>
            <a:off x="621792" y="1435608"/>
            <a:ext cx="3840480" cy="10972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Handcrafted features (LBP, HOG, SVM). Limited generalization across devices.</a:t>
            </a:r>
            <a:endParaRPr lang="en-US" sz="1200" dirty="0"/>
          </a:p>
        </p:txBody>
      </p:sp>
      <p:sp>
        <p:nvSpPr>
          <p:cNvPr id="9" name="Shape 7"/>
          <p:cNvSpPr/>
          <p:nvPr/>
        </p:nvSpPr>
        <p:spPr>
          <a:xfrm>
            <a:off x="4754880" y="960120"/>
            <a:ext cx="4114800" cy="1691640"/>
          </a:xfrm>
          <a:prstGeom prst="rect">
            <a:avLst/>
          </a:prstGeom>
          <a:solidFill>
            <a:srgbClr val="F0F7FA"/>
          </a:solidFill>
          <a:ln w="25400">
            <a:solidFill>
              <a:srgbClr val="0D7A8A"/>
            </a:solidFill>
            <a:prstDash val="solid"/>
          </a:ln>
          <a:effectLst>
            <a:outerShdw blurRad="63500" dist="25400" dir="8100000" algn="bl" rotWithShape="0">
              <a:srgbClr val="000000">
                <a:alpha val="12000"/>
              </a:srgbClr>
            </a:outerShdw>
          </a:effectLst>
        </p:spPr>
      </p:sp>
      <p:sp>
        <p:nvSpPr>
          <p:cNvPr id="10" name="Shape 8"/>
          <p:cNvSpPr/>
          <p:nvPr/>
        </p:nvSpPr>
        <p:spPr>
          <a:xfrm>
            <a:off x="4754880" y="960120"/>
            <a:ext cx="73152" cy="1691640"/>
          </a:xfrm>
          <a:prstGeom prst="rect">
            <a:avLst/>
          </a:prstGeom>
          <a:solidFill>
            <a:srgbClr val="0D7A8A"/>
          </a:solidFill>
          <a:ln w="12700">
            <a:solidFill>
              <a:srgbClr val="0D7A8A"/>
            </a:solidFill>
            <a:prstDash val="solid"/>
          </a:ln>
        </p:spPr>
      </p:sp>
      <p:sp>
        <p:nvSpPr>
          <p:cNvPr id="11" name="Text 9"/>
          <p:cNvSpPr/>
          <p:nvPr/>
        </p:nvSpPr>
        <p:spPr>
          <a:xfrm>
            <a:off x="4919472" y="1069848"/>
            <a:ext cx="3840480" cy="320040"/>
          </a:xfrm>
          <a:prstGeom prst="rect">
            <a:avLst/>
          </a:prstGeom>
          <a:noFill/>
          <a:ln/>
        </p:spPr>
        <p:txBody>
          <a:bodyPr wrap="square" lIns="0" tIns="0" rIns="0" bIns="0" rtlCol="0" anchor="ctr"/>
          <a:lstStyle/>
          <a:p>
            <a:pPr marL="0" indent="0">
              <a:buNone/>
            </a:pPr>
            <a:r>
              <a:rPr lang="en-US" sz="1300" b="1" dirty="0">
                <a:solidFill>
                  <a:srgbClr val="0D7A8A"/>
                </a:solidFill>
                <a:latin typeface="Calibri" pitchFamily="34" charset="0"/>
                <a:ea typeface="Calibri" pitchFamily="34" charset="-122"/>
                <a:cs typeface="Calibri" pitchFamily="34" charset="-120"/>
              </a:rPr>
              <a:t>CNN-Based (ResNet, EfficientNet)</a:t>
            </a:r>
            <a:endParaRPr lang="en-US" sz="1300" dirty="0"/>
          </a:p>
        </p:txBody>
      </p:sp>
      <p:sp>
        <p:nvSpPr>
          <p:cNvPr id="12" name="Text 10"/>
          <p:cNvSpPr/>
          <p:nvPr/>
        </p:nvSpPr>
        <p:spPr>
          <a:xfrm>
            <a:off x="4919472" y="1435608"/>
            <a:ext cx="3840480" cy="10972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Strong local lesion detection. Cannot model vessel topology or global context.</a:t>
            </a:r>
            <a:endParaRPr lang="en-US" sz="1200" dirty="0"/>
          </a:p>
        </p:txBody>
      </p:sp>
      <p:sp>
        <p:nvSpPr>
          <p:cNvPr id="13" name="Shape 11"/>
          <p:cNvSpPr/>
          <p:nvPr/>
        </p:nvSpPr>
        <p:spPr>
          <a:xfrm>
            <a:off x="457200" y="2880360"/>
            <a:ext cx="4114800" cy="1691640"/>
          </a:xfrm>
          <a:prstGeom prst="rect">
            <a:avLst/>
          </a:prstGeom>
          <a:solidFill>
            <a:srgbClr val="F0F7FA"/>
          </a:solidFill>
          <a:ln w="25400">
            <a:solidFill>
              <a:srgbClr val="E67E22"/>
            </a:solidFill>
            <a:prstDash val="solid"/>
          </a:ln>
          <a:effectLst>
            <a:outerShdw blurRad="63500" dist="25400" dir="8100000" algn="bl" rotWithShape="0">
              <a:srgbClr val="000000">
                <a:alpha val="12000"/>
              </a:srgbClr>
            </a:outerShdw>
          </a:effectLst>
        </p:spPr>
      </p:sp>
      <p:sp>
        <p:nvSpPr>
          <p:cNvPr id="14" name="Shape 12"/>
          <p:cNvSpPr/>
          <p:nvPr/>
        </p:nvSpPr>
        <p:spPr>
          <a:xfrm>
            <a:off x="457200" y="2880360"/>
            <a:ext cx="73152" cy="1691640"/>
          </a:xfrm>
          <a:prstGeom prst="rect">
            <a:avLst/>
          </a:prstGeom>
          <a:solidFill>
            <a:srgbClr val="E67E22"/>
          </a:solidFill>
          <a:ln w="12700">
            <a:solidFill>
              <a:srgbClr val="E67E22"/>
            </a:solidFill>
            <a:prstDash val="solid"/>
          </a:ln>
        </p:spPr>
      </p:sp>
      <p:sp>
        <p:nvSpPr>
          <p:cNvPr id="15" name="Text 13"/>
          <p:cNvSpPr/>
          <p:nvPr/>
        </p:nvSpPr>
        <p:spPr>
          <a:xfrm>
            <a:off x="621792" y="2990088"/>
            <a:ext cx="3840480" cy="320040"/>
          </a:xfrm>
          <a:prstGeom prst="rect">
            <a:avLst/>
          </a:prstGeom>
          <a:noFill/>
          <a:ln/>
        </p:spPr>
        <p:txBody>
          <a:bodyPr wrap="square" lIns="0" tIns="0" rIns="0" bIns="0" rtlCol="0" anchor="ctr"/>
          <a:lstStyle/>
          <a:p>
            <a:pPr marL="0" indent="0">
              <a:buNone/>
            </a:pPr>
            <a:r>
              <a:rPr lang="en-US" sz="1300" b="1" dirty="0">
                <a:solidFill>
                  <a:srgbClr val="E67E22"/>
                </a:solidFill>
                <a:latin typeface="Calibri" pitchFamily="34" charset="0"/>
                <a:ea typeface="Calibri" pitchFamily="34" charset="-122"/>
                <a:cs typeface="Calibri" pitchFamily="34" charset="-120"/>
              </a:rPr>
              <a:t>Transformer-Based (ViT, Swin)</a:t>
            </a:r>
            <a:endParaRPr lang="en-US" sz="1300" dirty="0"/>
          </a:p>
        </p:txBody>
      </p:sp>
      <p:sp>
        <p:nvSpPr>
          <p:cNvPr id="16" name="Text 14"/>
          <p:cNvSpPr/>
          <p:nvPr/>
        </p:nvSpPr>
        <p:spPr>
          <a:xfrm>
            <a:off x="621792" y="3355848"/>
            <a:ext cx="3840480" cy="10972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Global receptive field via self-attention. No explicit anatomical graph priors.</a:t>
            </a:r>
            <a:endParaRPr lang="en-US" sz="1200" dirty="0"/>
          </a:p>
        </p:txBody>
      </p:sp>
      <p:sp>
        <p:nvSpPr>
          <p:cNvPr id="17" name="Shape 15"/>
          <p:cNvSpPr/>
          <p:nvPr/>
        </p:nvSpPr>
        <p:spPr>
          <a:xfrm>
            <a:off x="4754880" y="2880360"/>
            <a:ext cx="4114800" cy="1691640"/>
          </a:xfrm>
          <a:prstGeom prst="rect">
            <a:avLst/>
          </a:prstGeom>
          <a:solidFill>
            <a:srgbClr val="F0F7FA"/>
          </a:solidFill>
          <a:ln w="25400">
            <a:solidFill>
              <a:srgbClr val="8E44AD"/>
            </a:solidFill>
            <a:prstDash val="solid"/>
          </a:ln>
          <a:effectLst>
            <a:outerShdw blurRad="63500" dist="25400" dir="8100000" algn="bl" rotWithShape="0">
              <a:srgbClr val="000000">
                <a:alpha val="12000"/>
              </a:srgbClr>
            </a:outerShdw>
          </a:effectLst>
        </p:spPr>
      </p:sp>
      <p:sp>
        <p:nvSpPr>
          <p:cNvPr id="18" name="Shape 16"/>
          <p:cNvSpPr/>
          <p:nvPr/>
        </p:nvSpPr>
        <p:spPr>
          <a:xfrm>
            <a:off x="4754880" y="2880360"/>
            <a:ext cx="73152" cy="1691640"/>
          </a:xfrm>
          <a:prstGeom prst="rect">
            <a:avLst/>
          </a:prstGeom>
          <a:solidFill>
            <a:srgbClr val="8E44AD"/>
          </a:solidFill>
          <a:ln w="12700">
            <a:solidFill>
              <a:srgbClr val="8E44AD"/>
            </a:solidFill>
            <a:prstDash val="solid"/>
          </a:ln>
        </p:spPr>
      </p:sp>
      <p:sp>
        <p:nvSpPr>
          <p:cNvPr id="19" name="Text 17"/>
          <p:cNvSpPr/>
          <p:nvPr/>
        </p:nvSpPr>
        <p:spPr>
          <a:xfrm>
            <a:off x="4919472" y="2990088"/>
            <a:ext cx="3840480" cy="320040"/>
          </a:xfrm>
          <a:prstGeom prst="rect">
            <a:avLst/>
          </a:prstGeom>
          <a:noFill/>
          <a:ln/>
        </p:spPr>
        <p:txBody>
          <a:bodyPr wrap="square" lIns="0" tIns="0" rIns="0" bIns="0" rtlCol="0" anchor="ctr"/>
          <a:lstStyle/>
          <a:p>
            <a:pPr marL="0" indent="0">
              <a:buNone/>
            </a:pPr>
            <a:r>
              <a:rPr lang="en-US" sz="1300" b="1" dirty="0">
                <a:solidFill>
                  <a:srgbClr val="8E44AD"/>
                </a:solidFill>
                <a:latin typeface="Calibri" pitchFamily="34" charset="0"/>
                <a:ea typeface="Calibri" pitchFamily="34" charset="-122"/>
                <a:cs typeface="Calibri" pitchFamily="34" charset="-120"/>
              </a:rPr>
              <a:t>GNN-Based (GCN, GAT)</a:t>
            </a:r>
            <a:endParaRPr lang="en-US" sz="1300" dirty="0"/>
          </a:p>
        </p:txBody>
      </p:sp>
      <p:sp>
        <p:nvSpPr>
          <p:cNvPr id="20" name="Text 18"/>
          <p:cNvSpPr/>
          <p:nvPr/>
        </p:nvSpPr>
        <p:spPr>
          <a:xfrm>
            <a:off x="4919472" y="3355848"/>
            <a:ext cx="3840480" cy="10972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Models retinal vascular topology. Misses pixel-level appearance features.</a:t>
            </a:r>
            <a:endParaRPr lang="en-US" sz="1200" dirty="0"/>
          </a:p>
        </p:txBody>
      </p:sp>
      <p:sp>
        <p:nvSpPr>
          <p:cNvPr id="21" name="Shape 19"/>
          <p:cNvSpPr/>
          <p:nvPr/>
        </p:nvSpPr>
        <p:spPr>
          <a:xfrm>
            <a:off x="457200" y="4617720"/>
            <a:ext cx="8229600" cy="384048"/>
          </a:xfrm>
          <a:prstGeom prst="rect">
            <a:avLst/>
          </a:prstGeom>
          <a:solidFill>
            <a:srgbClr val="02C39A"/>
          </a:solidFill>
          <a:ln w="12700">
            <a:solidFill>
              <a:srgbClr val="02C39A"/>
            </a:solidFill>
            <a:prstDash val="solid"/>
          </a:ln>
          <a:effectLst>
            <a:outerShdw blurRad="63500" dist="25400" dir="8100000" algn="bl" rotWithShape="0">
              <a:srgbClr val="000000">
                <a:alpha val="12000"/>
              </a:srgbClr>
            </a:outerShdw>
          </a:effectLst>
        </p:spPr>
      </p:sp>
      <p:sp>
        <p:nvSpPr>
          <p:cNvPr id="22" name="Text 20"/>
          <p:cNvSpPr/>
          <p:nvPr/>
        </p:nvSpPr>
        <p:spPr>
          <a:xfrm>
            <a:off x="457200" y="4636008"/>
            <a:ext cx="8229600" cy="347472"/>
          </a:xfrm>
          <a:prstGeom prst="rect">
            <a:avLst/>
          </a:prstGeom>
          <a:noFill/>
          <a:ln/>
        </p:spPr>
        <p:txBody>
          <a:bodyPr wrap="square" rtlCol="0" anchor="ctr"/>
          <a:lstStyle/>
          <a:p>
            <a:pPr marL="0" indent="0" algn="ctr">
              <a:buNone/>
            </a:pPr>
            <a:r>
              <a:rPr lang="en-US" sz="1200" b="1" dirty="0">
                <a:solidFill>
                  <a:srgbClr val="0A2540"/>
                </a:solidFill>
                <a:latin typeface="Calibri" pitchFamily="34" charset="0"/>
                <a:ea typeface="Calibri" pitchFamily="34" charset="-122"/>
                <a:cs typeface="Calibri" pitchFamily="34" charset="-120"/>
              </a:rPr>
              <a:t>💡  ReGraNet unifies all three paradigms — CNN + GNN + Transformer — filling the gap with explicit cross-modal interaction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EFA1AD3-34F7-20E4-4586-5116054B78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AF8FE40-7662-634C-2491-3C2D3296D5B5}"/>
              </a:ext>
            </a:extLst>
          </p:cNvPr>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a:extLst>
              <a:ext uri="{FF2B5EF4-FFF2-40B4-BE49-F238E27FC236}">
                <a16:creationId xmlns:a16="http://schemas.microsoft.com/office/drawing/2014/main" id="{BAB36FC0-B757-C606-F26F-C9016554EEDB}"/>
              </a:ext>
            </a:extLst>
          </p:cNvPr>
          <p:cNvSpPr/>
          <p:nvPr/>
        </p:nvSpPr>
        <p:spPr>
          <a:xfrm>
            <a:off x="594360" y="201168"/>
            <a:ext cx="8092440" cy="594360"/>
          </a:xfrm>
          <a:prstGeom prst="rect">
            <a:avLst/>
          </a:prstGeom>
          <a:noFill/>
          <a:ln/>
        </p:spPr>
        <p:txBody>
          <a:bodyPr wrap="square" lIns="0" tIns="0" rIns="0" bIns="0" rtlCol="0" anchor="ctr"/>
          <a:lstStyle/>
          <a:p>
            <a:r>
              <a:rPr lang="en-IN" sz="2800" dirty="0"/>
              <a:t>Gap &amp; Our Idea</a:t>
            </a:r>
            <a:endParaRPr lang="en-US" sz="2600" dirty="0"/>
          </a:p>
        </p:txBody>
      </p:sp>
      <p:sp>
        <p:nvSpPr>
          <p:cNvPr id="4" name="Shape 2">
            <a:extLst>
              <a:ext uri="{FF2B5EF4-FFF2-40B4-BE49-F238E27FC236}">
                <a16:creationId xmlns:a16="http://schemas.microsoft.com/office/drawing/2014/main" id="{8A997186-D23B-829D-46AD-0AEF6D7D99DE}"/>
              </a:ext>
            </a:extLst>
          </p:cNvPr>
          <p:cNvSpPr/>
          <p:nvPr/>
        </p:nvSpPr>
        <p:spPr>
          <a:xfrm>
            <a:off x="457200" y="822960"/>
            <a:ext cx="8229600" cy="0"/>
          </a:xfrm>
          <a:prstGeom prst="line">
            <a:avLst/>
          </a:prstGeom>
          <a:noFill/>
          <a:ln w="12700">
            <a:solidFill>
              <a:srgbClr val="0D7A8A"/>
            </a:solidFill>
            <a:prstDash val="solid"/>
          </a:ln>
        </p:spPr>
      </p:sp>
      <p:sp>
        <p:nvSpPr>
          <p:cNvPr id="6" name="Text 4">
            <a:extLst>
              <a:ext uri="{FF2B5EF4-FFF2-40B4-BE49-F238E27FC236}">
                <a16:creationId xmlns:a16="http://schemas.microsoft.com/office/drawing/2014/main" id="{DF8BC50F-BFEB-0981-9DF7-2B583233A516}"/>
              </a:ext>
            </a:extLst>
          </p:cNvPr>
          <p:cNvSpPr/>
          <p:nvPr/>
        </p:nvSpPr>
        <p:spPr>
          <a:xfrm>
            <a:off x="457200" y="987552"/>
            <a:ext cx="2651760" cy="713232"/>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537M</a:t>
            </a:r>
            <a:endParaRPr lang="en-US" sz="3200" dirty="0"/>
          </a:p>
        </p:txBody>
      </p:sp>
      <p:sp>
        <p:nvSpPr>
          <p:cNvPr id="7" name="Text 5">
            <a:extLst>
              <a:ext uri="{FF2B5EF4-FFF2-40B4-BE49-F238E27FC236}">
                <a16:creationId xmlns:a16="http://schemas.microsoft.com/office/drawing/2014/main" id="{69D7C014-7F2C-9918-5A43-D5B97C157E94}"/>
              </a:ext>
            </a:extLst>
          </p:cNvPr>
          <p:cNvSpPr/>
          <p:nvPr/>
        </p:nvSpPr>
        <p:spPr>
          <a:xfrm>
            <a:off x="457200" y="1664208"/>
            <a:ext cx="2651760" cy="621792"/>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Adults with</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Diabetes Worldwide</a:t>
            </a:r>
            <a:endParaRPr lang="en-US" sz="1200" dirty="0"/>
          </a:p>
        </p:txBody>
      </p:sp>
      <p:sp>
        <p:nvSpPr>
          <p:cNvPr id="9" name="Text 7">
            <a:extLst>
              <a:ext uri="{FF2B5EF4-FFF2-40B4-BE49-F238E27FC236}">
                <a16:creationId xmlns:a16="http://schemas.microsoft.com/office/drawing/2014/main" id="{CF47BB04-F06A-C057-08F0-619C408E237A}"/>
              </a:ext>
            </a:extLst>
          </p:cNvPr>
          <p:cNvSpPr/>
          <p:nvPr/>
        </p:nvSpPr>
        <p:spPr>
          <a:xfrm>
            <a:off x="3355848" y="987552"/>
            <a:ext cx="2651760" cy="713232"/>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 in 3</a:t>
            </a:r>
            <a:endParaRPr lang="en-US" sz="3200" dirty="0"/>
          </a:p>
        </p:txBody>
      </p:sp>
      <p:sp>
        <p:nvSpPr>
          <p:cNvPr id="10" name="Text 8">
            <a:extLst>
              <a:ext uri="{FF2B5EF4-FFF2-40B4-BE49-F238E27FC236}">
                <a16:creationId xmlns:a16="http://schemas.microsoft.com/office/drawing/2014/main" id="{458FAABD-3551-DC18-277B-6AC9EB939228}"/>
              </a:ext>
            </a:extLst>
          </p:cNvPr>
          <p:cNvSpPr/>
          <p:nvPr/>
        </p:nvSpPr>
        <p:spPr>
          <a:xfrm>
            <a:off x="3355848" y="1664208"/>
            <a:ext cx="2651760" cy="621792"/>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Diabetic patients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develop DR</a:t>
            </a:r>
            <a:endParaRPr lang="en-US" sz="1200" dirty="0"/>
          </a:p>
        </p:txBody>
      </p:sp>
      <p:sp>
        <p:nvSpPr>
          <p:cNvPr id="12" name="Text 10">
            <a:extLst>
              <a:ext uri="{FF2B5EF4-FFF2-40B4-BE49-F238E27FC236}">
                <a16:creationId xmlns:a16="http://schemas.microsoft.com/office/drawing/2014/main" id="{82C336DF-2542-2AF7-E90E-A843362762A4}"/>
              </a:ext>
            </a:extLst>
          </p:cNvPr>
          <p:cNvSpPr/>
          <p:nvPr/>
        </p:nvSpPr>
        <p:spPr>
          <a:xfrm>
            <a:off x="6254496" y="987552"/>
            <a:ext cx="2651760" cy="713232"/>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90%</a:t>
            </a:r>
            <a:endParaRPr lang="en-US" sz="3200" dirty="0"/>
          </a:p>
        </p:txBody>
      </p:sp>
      <p:sp>
        <p:nvSpPr>
          <p:cNvPr id="13" name="Text 11">
            <a:extLst>
              <a:ext uri="{FF2B5EF4-FFF2-40B4-BE49-F238E27FC236}">
                <a16:creationId xmlns:a16="http://schemas.microsoft.com/office/drawing/2014/main" id="{3ED0CAFA-743F-45DB-2F93-FE9A1E34113D}"/>
              </a:ext>
            </a:extLst>
          </p:cNvPr>
          <p:cNvSpPr/>
          <p:nvPr/>
        </p:nvSpPr>
        <p:spPr>
          <a:xfrm>
            <a:off x="6254496" y="1664208"/>
            <a:ext cx="2651760" cy="621792"/>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Vision loss cases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are preventable</a:t>
            </a:r>
            <a:endParaRPr lang="en-US" sz="1200" dirty="0"/>
          </a:p>
        </p:txBody>
      </p:sp>
      <p:sp>
        <p:nvSpPr>
          <p:cNvPr id="15" name="Text 13">
            <a:extLst>
              <a:ext uri="{FF2B5EF4-FFF2-40B4-BE49-F238E27FC236}">
                <a16:creationId xmlns:a16="http://schemas.microsoft.com/office/drawing/2014/main" id="{DB2871F7-8DB8-F67B-1CFF-8E975CACD413}"/>
              </a:ext>
            </a:extLst>
          </p:cNvPr>
          <p:cNvSpPr/>
          <p:nvPr/>
        </p:nvSpPr>
        <p:spPr>
          <a:xfrm>
            <a:off x="502920" y="850394"/>
            <a:ext cx="8138160" cy="4105654"/>
          </a:xfrm>
          <a:prstGeom prst="rect">
            <a:avLst/>
          </a:prstGeom>
          <a:noFill/>
          <a:ln/>
        </p:spPr>
        <p:txBody>
          <a:bodyPr wrap="square" rtlCol="0" anchor="ctr"/>
          <a:lstStyle/>
          <a:p>
            <a:pPr marL="285750" indent="-285750">
              <a:buFont typeface="Wingdings" panose="05000000000000000000" pitchFamily="2" charset="2"/>
              <a:buChar char="v"/>
            </a:pPr>
            <a:r>
              <a:rPr lang="en-IN" b="1" dirty="0"/>
              <a:t>Research Gap:</a:t>
            </a:r>
            <a:endParaRPr lang="en-IN" dirty="0"/>
          </a:p>
          <a:p>
            <a:r>
              <a:rPr lang="en-IN" dirty="0"/>
              <a:t>     No model captures: </a:t>
            </a:r>
          </a:p>
          <a:p>
            <a:pPr lvl="1"/>
            <a:r>
              <a:rPr lang="en-IN" dirty="0"/>
              <a:t>  Local features (lesions) </a:t>
            </a:r>
          </a:p>
          <a:p>
            <a:pPr lvl="1"/>
            <a:r>
              <a:rPr lang="en-IN" dirty="0"/>
              <a:t>  Global context </a:t>
            </a:r>
          </a:p>
          <a:p>
            <a:pPr lvl="1"/>
            <a:r>
              <a:rPr lang="en-IN" dirty="0"/>
              <a:t>  Vessel structure</a:t>
            </a:r>
            <a:br>
              <a:rPr lang="en-IN" dirty="0"/>
            </a:br>
            <a:r>
              <a:rPr lang="en-IN" dirty="0"/>
              <a:t>👉 Together in one framework </a:t>
            </a:r>
          </a:p>
          <a:p>
            <a:pPr marL="285750" indent="-285750">
              <a:buFont typeface="Wingdings" panose="05000000000000000000" pitchFamily="2" charset="2"/>
              <a:buChar char="v"/>
            </a:pPr>
            <a:r>
              <a:rPr lang="en-IN" b="1" dirty="0"/>
              <a:t>Our Solution: </a:t>
            </a:r>
            <a:r>
              <a:rPr lang="en-IN" b="1" dirty="0" err="1"/>
              <a:t>ReGraNet</a:t>
            </a:r>
            <a:endParaRPr lang="en-IN" dirty="0"/>
          </a:p>
          <a:p>
            <a:r>
              <a:rPr lang="en-IN" dirty="0"/>
              <a:t>            CNN → Local features </a:t>
            </a:r>
          </a:p>
          <a:p>
            <a:r>
              <a:rPr lang="en-IN" dirty="0"/>
              <a:t>            GNN → Vessel structure </a:t>
            </a:r>
          </a:p>
          <a:p>
            <a:r>
              <a:rPr lang="en-IN" dirty="0"/>
              <a:t>            Transformer → Global context </a:t>
            </a:r>
          </a:p>
          <a:p>
            <a:r>
              <a:rPr lang="en-IN" dirty="0"/>
              <a:t>            Cross-attention → Better interaction </a:t>
            </a:r>
          </a:p>
          <a:p>
            <a:pPr marL="285750" indent="-285750">
              <a:buFont typeface="Wingdings" panose="05000000000000000000" pitchFamily="2" charset="2"/>
              <a:buChar char="v"/>
            </a:pPr>
            <a:r>
              <a:rPr lang="en-IN" b="1" dirty="0"/>
              <a:t>Output:</a:t>
            </a:r>
            <a:endParaRPr lang="en-IN" dirty="0"/>
          </a:p>
          <a:p>
            <a:r>
              <a:rPr lang="en-IN" dirty="0"/>
              <a:t>           5-class DR classification </a:t>
            </a:r>
          </a:p>
          <a:p>
            <a:r>
              <a:rPr lang="en-IN" dirty="0"/>
              <a:t>           Improved accuracy + interpretability</a:t>
            </a:r>
          </a:p>
        </p:txBody>
      </p:sp>
    </p:spTree>
    <p:extLst>
      <p:ext uri="{BB962C8B-B14F-4D97-AF65-F5344CB8AC3E}">
        <p14:creationId xmlns:p14="http://schemas.microsoft.com/office/powerpoint/2010/main" val="1948049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Dataset: APTOS 2019 Blindness Detection</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Text 3"/>
          <p:cNvSpPr/>
          <p:nvPr/>
        </p:nvSpPr>
        <p:spPr>
          <a:xfrm>
            <a:off x="457200" y="960120"/>
            <a:ext cx="4114800" cy="320040"/>
          </a:xfrm>
          <a:prstGeom prst="rect">
            <a:avLst/>
          </a:prstGeom>
          <a:noFill/>
          <a:ln/>
        </p:spPr>
        <p:txBody>
          <a:bodyPr wrap="square"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Dataset Overview</a:t>
            </a:r>
            <a:endParaRPr lang="en-US" sz="1400" dirty="0"/>
          </a:p>
        </p:txBody>
      </p:sp>
      <p:sp>
        <p:nvSpPr>
          <p:cNvPr id="6" name="Text 4"/>
          <p:cNvSpPr/>
          <p:nvPr/>
        </p:nvSpPr>
        <p:spPr>
          <a:xfrm>
            <a:off x="457200" y="1280160"/>
            <a:ext cx="4206240" cy="237744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Source: Kaggle APTOS 2019 Competition</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Modality: Color fundus photography</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5 severity classes (DR Scale)</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Split: 70% train · 10% val · 20% test (stratified)</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Test set: 496 images</a:t>
            </a:r>
            <a:endParaRPr lang="en-US" sz="1400" dirty="0"/>
          </a:p>
        </p:txBody>
      </p:sp>
      <p:sp>
        <p:nvSpPr>
          <p:cNvPr id="7" name="Text 5"/>
          <p:cNvSpPr/>
          <p:nvPr/>
        </p:nvSpPr>
        <p:spPr>
          <a:xfrm>
            <a:off x="4846320" y="960120"/>
            <a:ext cx="3840480" cy="320040"/>
          </a:xfrm>
          <a:prstGeom prst="rect">
            <a:avLst/>
          </a:prstGeom>
          <a:noFill/>
          <a:ln/>
        </p:spPr>
        <p:txBody>
          <a:bodyPr wrap="square"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DR Severity Classes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840480" cy="2414016"/>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Grade</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Signs</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 DR</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Mild DR</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Microaneurysms</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Moderate DR</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Hemorrhages, Exudates</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Severe DR</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Venous beading, IRMA</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Proliferative DR</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Neovascularization</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p:nvPr/>
        </p:nvSpPr>
        <p:spPr>
          <a:xfrm>
            <a:off x="457200" y="3703320"/>
            <a:ext cx="8138160" cy="27432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Class Distribution (approximate)</a:t>
            </a:r>
            <a:endParaRPr lang="en-US" sz="1200" dirty="0"/>
          </a:p>
        </p:txBody>
      </p:sp>
      <p:graphicFrame>
        <p:nvGraphicFramePr>
          <p:cNvPr id="10" name="Chart 0"/>
          <p:cNvGraphicFramePr/>
          <p:nvPr/>
        </p:nvGraphicFramePr>
        <p:xfrm>
          <a:off x="457200" y="3977640"/>
          <a:ext cx="8229600" cy="1051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Methodology: ReGraNet Framework Overview</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320040" y="960120"/>
            <a:ext cx="1280160" cy="804672"/>
          </a:xfrm>
          <a:prstGeom prst="rect">
            <a:avLst/>
          </a:prstGeom>
          <a:solidFill>
            <a:srgbClr val="0A2540"/>
          </a:solidFill>
          <a:ln w="12700">
            <a:solidFill>
              <a:srgbClr val="0A2540"/>
            </a:solidFill>
            <a:prstDash val="solid"/>
          </a:ln>
          <a:effectLst>
            <a:outerShdw blurRad="63500" dist="25400" dir="8100000" algn="bl" rotWithShape="0">
              <a:srgbClr val="000000">
                <a:alpha val="12000"/>
              </a:srgbClr>
            </a:outerShdw>
          </a:effectLst>
        </p:spPr>
      </p:sp>
      <p:sp>
        <p:nvSpPr>
          <p:cNvPr id="6" name="Text 4"/>
          <p:cNvSpPr/>
          <p:nvPr/>
        </p:nvSpPr>
        <p:spPr>
          <a:xfrm>
            <a:off x="320040" y="969264"/>
            <a:ext cx="128016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Fundus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Image Input</a:t>
            </a:r>
            <a:endParaRPr lang="en-US" sz="1000" dirty="0"/>
          </a:p>
        </p:txBody>
      </p:sp>
      <p:sp>
        <p:nvSpPr>
          <p:cNvPr id="7" name="Shape 5"/>
          <p:cNvSpPr/>
          <p:nvPr/>
        </p:nvSpPr>
        <p:spPr>
          <a:xfrm>
            <a:off x="1609344" y="1362456"/>
            <a:ext cx="137160" cy="0"/>
          </a:xfrm>
          <a:prstGeom prst="line">
            <a:avLst/>
          </a:prstGeom>
          <a:noFill/>
          <a:ln w="19050">
            <a:solidFill>
              <a:srgbClr val="64748B"/>
            </a:solidFill>
            <a:prstDash val="solid"/>
          </a:ln>
        </p:spPr>
      </p:sp>
      <p:sp>
        <p:nvSpPr>
          <p:cNvPr id="8" name="Shape 6"/>
          <p:cNvSpPr/>
          <p:nvPr/>
        </p:nvSpPr>
        <p:spPr>
          <a:xfrm>
            <a:off x="1755648" y="960120"/>
            <a:ext cx="1280160" cy="804672"/>
          </a:xfrm>
          <a:prstGeom prst="rect">
            <a:avLst/>
          </a:prstGeom>
          <a:solidFill>
            <a:srgbClr val="0D7A8A"/>
          </a:solidFill>
          <a:ln w="12700">
            <a:solidFill>
              <a:srgbClr val="0D7A8A"/>
            </a:solidFill>
            <a:prstDash val="solid"/>
          </a:ln>
          <a:effectLst>
            <a:outerShdw blurRad="63500" dist="25400" dir="8100000" algn="bl" rotWithShape="0">
              <a:srgbClr val="000000">
                <a:alpha val="12000"/>
              </a:srgbClr>
            </a:outerShdw>
          </a:effectLst>
        </p:spPr>
      </p:sp>
      <p:sp>
        <p:nvSpPr>
          <p:cNvPr id="9" name="Text 7"/>
          <p:cNvSpPr/>
          <p:nvPr/>
        </p:nvSpPr>
        <p:spPr>
          <a:xfrm>
            <a:off x="1755648" y="969264"/>
            <a:ext cx="128016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Preprocessing</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(CLAHE + Resize)</a:t>
            </a:r>
            <a:endParaRPr lang="en-US" sz="1000" dirty="0"/>
          </a:p>
        </p:txBody>
      </p:sp>
      <p:sp>
        <p:nvSpPr>
          <p:cNvPr id="10" name="Shape 8"/>
          <p:cNvSpPr/>
          <p:nvPr/>
        </p:nvSpPr>
        <p:spPr>
          <a:xfrm>
            <a:off x="3044952" y="1362456"/>
            <a:ext cx="137160" cy="0"/>
          </a:xfrm>
          <a:prstGeom prst="line">
            <a:avLst/>
          </a:prstGeom>
          <a:noFill/>
          <a:ln w="19050">
            <a:solidFill>
              <a:srgbClr val="64748B"/>
            </a:solidFill>
            <a:prstDash val="solid"/>
          </a:ln>
        </p:spPr>
      </p:sp>
      <p:sp>
        <p:nvSpPr>
          <p:cNvPr id="11" name="Shape 9"/>
          <p:cNvSpPr/>
          <p:nvPr/>
        </p:nvSpPr>
        <p:spPr>
          <a:xfrm>
            <a:off x="3191256" y="960120"/>
            <a:ext cx="1280160" cy="804672"/>
          </a:xfrm>
          <a:prstGeom prst="rect">
            <a:avLst/>
          </a:prstGeom>
          <a:solidFill>
            <a:srgbClr val="8E44AD"/>
          </a:solidFill>
          <a:ln w="12700">
            <a:solidFill>
              <a:srgbClr val="8E44AD"/>
            </a:solidFill>
            <a:prstDash val="solid"/>
          </a:ln>
          <a:effectLst>
            <a:outerShdw blurRad="63500" dist="25400" dir="8100000" algn="bl" rotWithShape="0">
              <a:srgbClr val="000000">
                <a:alpha val="12000"/>
              </a:srgbClr>
            </a:outerShdw>
          </a:effectLst>
        </p:spPr>
      </p:sp>
      <p:sp>
        <p:nvSpPr>
          <p:cNvPr id="12" name="Text 10"/>
          <p:cNvSpPr/>
          <p:nvPr/>
        </p:nvSpPr>
        <p:spPr>
          <a:xfrm>
            <a:off x="3191256" y="969264"/>
            <a:ext cx="128016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Vessel Graph</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Construction</a:t>
            </a:r>
            <a:endParaRPr lang="en-US" sz="1000" dirty="0"/>
          </a:p>
        </p:txBody>
      </p:sp>
      <p:sp>
        <p:nvSpPr>
          <p:cNvPr id="13" name="Shape 11"/>
          <p:cNvSpPr/>
          <p:nvPr/>
        </p:nvSpPr>
        <p:spPr>
          <a:xfrm>
            <a:off x="4480560" y="1362456"/>
            <a:ext cx="137160" cy="0"/>
          </a:xfrm>
          <a:prstGeom prst="line">
            <a:avLst/>
          </a:prstGeom>
          <a:noFill/>
          <a:ln w="19050">
            <a:solidFill>
              <a:srgbClr val="64748B"/>
            </a:solidFill>
            <a:prstDash val="solid"/>
          </a:ln>
        </p:spPr>
      </p:sp>
      <p:sp>
        <p:nvSpPr>
          <p:cNvPr id="14" name="Shape 12"/>
          <p:cNvSpPr/>
          <p:nvPr/>
        </p:nvSpPr>
        <p:spPr>
          <a:xfrm>
            <a:off x="4626864" y="960120"/>
            <a:ext cx="1280160" cy="804672"/>
          </a:xfrm>
          <a:prstGeom prst="rect">
            <a:avLst/>
          </a:prstGeom>
          <a:solidFill>
            <a:srgbClr val="E67E22"/>
          </a:solidFill>
          <a:ln w="12700">
            <a:solidFill>
              <a:srgbClr val="E67E22"/>
            </a:solidFill>
            <a:prstDash val="solid"/>
          </a:ln>
          <a:effectLst>
            <a:outerShdw blurRad="63500" dist="25400" dir="8100000" algn="bl" rotWithShape="0">
              <a:srgbClr val="000000">
                <a:alpha val="12000"/>
              </a:srgbClr>
            </a:outerShdw>
          </a:effectLst>
        </p:spPr>
      </p:sp>
      <p:sp>
        <p:nvSpPr>
          <p:cNvPr id="15" name="Text 13"/>
          <p:cNvSpPr/>
          <p:nvPr/>
        </p:nvSpPr>
        <p:spPr>
          <a:xfrm>
            <a:off x="4626864" y="969264"/>
            <a:ext cx="128016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3-Branch</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Feature Learning</a:t>
            </a:r>
            <a:endParaRPr lang="en-US" sz="1000" dirty="0"/>
          </a:p>
        </p:txBody>
      </p:sp>
      <p:sp>
        <p:nvSpPr>
          <p:cNvPr id="16" name="Shape 14"/>
          <p:cNvSpPr/>
          <p:nvPr/>
        </p:nvSpPr>
        <p:spPr>
          <a:xfrm>
            <a:off x="5916168" y="1362456"/>
            <a:ext cx="137160" cy="0"/>
          </a:xfrm>
          <a:prstGeom prst="line">
            <a:avLst/>
          </a:prstGeom>
          <a:noFill/>
          <a:ln w="19050">
            <a:solidFill>
              <a:srgbClr val="64748B"/>
            </a:solidFill>
            <a:prstDash val="solid"/>
          </a:ln>
        </p:spPr>
      </p:sp>
      <p:sp>
        <p:nvSpPr>
          <p:cNvPr id="17" name="Shape 15"/>
          <p:cNvSpPr/>
          <p:nvPr/>
        </p:nvSpPr>
        <p:spPr>
          <a:xfrm>
            <a:off x="6062472" y="960120"/>
            <a:ext cx="1280160" cy="804672"/>
          </a:xfrm>
          <a:prstGeom prst="rect">
            <a:avLst/>
          </a:prstGeom>
          <a:solidFill>
            <a:srgbClr val="E74C3C"/>
          </a:solidFill>
          <a:ln w="12700">
            <a:solidFill>
              <a:srgbClr val="E74C3C"/>
            </a:solidFill>
            <a:prstDash val="solid"/>
          </a:ln>
          <a:effectLst>
            <a:outerShdw blurRad="63500" dist="25400" dir="8100000" algn="bl" rotWithShape="0">
              <a:srgbClr val="000000">
                <a:alpha val="12000"/>
              </a:srgbClr>
            </a:outerShdw>
          </a:effectLst>
        </p:spPr>
      </p:sp>
      <p:sp>
        <p:nvSpPr>
          <p:cNvPr id="18" name="Text 16"/>
          <p:cNvSpPr/>
          <p:nvPr/>
        </p:nvSpPr>
        <p:spPr>
          <a:xfrm>
            <a:off x="6062472" y="969264"/>
            <a:ext cx="128016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Bidirectional</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Cross-Attention</a:t>
            </a:r>
            <a:endParaRPr lang="en-US" sz="1000" dirty="0"/>
          </a:p>
        </p:txBody>
      </p:sp>
      <p:sp>
        <p:nvSpPr>
          <p:cNvPr id="19" name="Shape 17"/>
          <p:cNvSpPr/>
          <p:nvPr/>
        </p:nvSpPr>
        <p:spPr>
          <a:xfrm>
            <a:off x="7351776" y="1362456"/>
            <a:ext cx="137160" cy="0"/>
          </a:xfrm>
          <a:prstGeom prst="line">
            <a:avLst/>
          </a:prstGeom>
          <a:noFill/>
          <a:ln w="19050">
            <a:solidFill>
              <a:srgbClr val="64748B"/>
            </a:solidFill>
            <a:prstDash val="solid"/>
          </a:ln>
        </p:spPr>
      </p:sp>
      <p:sp>
        <p:nvSpPr>
          <p:cNvPr id="20" name="Shape 18"/>
          <p:cNvSpPr/>
          <p:nvPr/>
        </p:nvSpPr>
        <p:spPr>
          <a:xfrm>
            <a:off x="7498080" y="960120"/>
            <a:ext cx="1280160" cy="804672"/>
          </a:xfrm>
          <a:prstGeom prst="rect">
            <a:avLst/>
          </a:prstGeom>
          <a:solidFill>
            <a:srgbClr val="02C39A"/>
          </a:solidFill>
          <a:ln w="12700">
            <a:solidFill>
              <a:srgbClr val="02C39A"/>
            </a:solidFill>
            <a:prstDash val="solid"/>
          </a:ln>
          <a:effectLst>
            <a:outerShdw blurRad="63500" dist="25400" dir="8100000" algn="bl" rotWithShape="0">
              <a:srgbClr val="000000">
                <a:alpha val="12000"/>
              </a:srgbClr>
            </a:outerShdw>
          </a:effectLst>
        </p:spPr>
      </p:sp>
      <p:sp>
        <p:nvSpPr>
          <p:cNvPr id="21" name="Text 19"/>
          <p:cNvSpPr/>
          <p:nvPr/>
        </p:nvSpPr>
        <p:spPr>
          <a:xfrm>
            <a:off x="7498080" y="969264"/>
            <a:ext cx="1280160" cy="7772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MLP Classifier</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5-Class Output</a:t>
            </a:r>
            <a:endParaRPr lang="en-US" sz="1000" dirty="0"/>
          </a:p>
        </p:txBody>
      </p:sp>
      <p:sp>
        <p:nvSpPr>
          <p:cNvPr id="22" name="Text 20"/>
          <p:cNvSpPr/>
          <p:nvPr/>
        </p:nvSpPr>
        <p:spPr>
          <a:xfrm>
            <a:off x="457200" y="1965960"/>
            <a:ext cx="8229600" cy="292608"/>
          </a:xfrm>
          <a:prstGeom prst="rect">
            <a:avLst/>
          </a:prstGeom>
          <a:noFill/>
          <a:ln/>
        </p:spPr>
        <p:txBody>
          <a:bodyPr wrap="square"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Three Parallel Branches</a:t>
            </a:r>
            <a:endParaRPr lang="en-US" sz="1300" dirty="0"/>
          </a:p>
        </p:txBody>
      </p:sp>
      <p:sp>
        <p:nvSpPr>
          <p:cNvPr id="23" name="Shape 21"/>
          <p:cNvSpPr/>
          <p:nvPr/>
        </p:nvSpPr>
        <p:spPr>
          <a:xfrm>
            <a:off x="457200" y="2286000"/>
            <a:ext cx="2651760" cy="2423160"/>
          </a:xfrm>
          <a:prstGeom prst="rect">
            <a:avLst/>
          </a:prstGeom>
          <a:solidFill>
            <a:srgbClr val="F0F7FA"/>
          </a:solidFill>
          <a:ln w="19050">
            <a:solidFill>
              <a:srgbClr val="0D7A8A"/>
            </a:solidFill>
            <a:prstDash val="solid"/>
          </a:ln>
          <a:effectLst>
            <a:outerShdw blurRad="63500" dist="25400" dir="8100000" algn="bl" rotWithShape="0">
              <a:srgbClr val="000000">
                <a:alpha val="12000"/>
              </a:srgbClr>
            </a:outerShdw>
          </a:effectLst>
        </p:spPr>
      </p:sp>
      <p:sp>
        <p:nvSpPr>
          <p:cNvPr id="24" name="Shape 22"/>
          <p:cNvSpPr/>
          <p:nvPr/>
        </p:nvSpPr>
        <p:spPr>
          <a:xfrm>
            <a:off x="457200" y="2286000"/>
            <a:ext cx="2651760" cy="438912"/>
          </a:xfrm>
          <a:prstGeom prst="rect">
            <a:avLst/>
          </a:prstGeom>
          <a:solidFill>
            <a:srgbClr val="0D7A8A"/>
          </a:solidFill>
          <a:ln w="12700">
            <a:solidFill>
              <a:srgbClr val="0D7A8A"/>
            </a:solidFill>
            <a:prstDash val="solid"/>
          </a:ln>
        </p:spPr>
      </p:sp>
      <p:sp>
        <p:nvSpPr>
          <p:cNvPr id="25" name="Text 23"/>
          <p:cNvSpPr/>
          <p:nvPr/>
        </p:nvSpPr>
        <p:spPr>
          <a:xfrm>
            <a:off x="548640" y="2313432"/>
            <a:ext cx="246888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CNN Branch</a:t>
            </a:r>
            <a:endParaRPr lang="en-US" sz="1200" dirty="0"/>
          </a:p>
        </p:txBody>
      </p:sp>
      <p:sp>
        <p:nvSpPr>
          <p:cNvPr id="26" name="Text 24"/>
          <p:cNvSpPr/>
          <p:nvPr/>
        </p:nvSpPr>
        <p:spPr>
          <a:xfrm>
            <a:off x="548640" y="2761488"/>
            <a:ext cx="2468880" cy="292608"/>
          </a:xfrm>
          <a:prstGeom prst="rect">
            <a:avLst/>
          </a:prstGeom>
          <a:noFill/>
          <a:ln/>
        </p:spPr>
        <p:txBody>
          <a:bodyPr wrap="square" lIns="0" tIns="0" rIns="0" bIns="0" rtlCol="0" anchor="ctr"/>
          <a:lstStyle/>
          <a:p>
            <a:pPr marL="0" indent="0">
              <a:buNone/>
            </a:pPr>
            <a:r>
              <a:rPr lang="en-US" sz="1000" i="1">
                <a:solidFill>
                  <a:srgbClr val="0D7A8A"/>
                </a:solidFill>
                <a:latin typeface="Calibri"/>
                <a:ea typeface="Calibri"/>
                <a:cs typeface="Calibri"/>
              </a:rPr>
              <a:t>EfficientNet-B4 + Feature Pyramid Network(FPN)</a:t>
            </a:r>
            <a:endParaRPr lang="en-US" sz="1000" dirty="0"/>
          </a:p>
        </p:txBody>
      </p:sp>
      <p:sp>
        <p:nvSpPr>
          <p:cNvPr id="27" name="Text 25"/>
          <p:cNvSpPr/>
          <p:nvPr/>
        </p:nvSpPr>
        <p:spPr>
          <a:xfrm>
            <a:off x="548640" y="3090672"/>
            <a:ext cx="2468880" cy="43891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Multi-scale local lesion features</a:t>
            </a:r>
            <a:endParaRPr lang="en-US" sz="1000" dirty="0"/>
          </a:p>
        </p:txBody>
      </p:sp>
      <p:sp>
        <p:nvSpPr>
          <p:cNvPr id="28" name="Text 26"/>
          <p:cNvSpPr/>
          <p:nvPr/>
        </p:nvSpPr>
        <p:spPr>
          <a:xfrm>
            <a:off x="548640" y="3566160"/>
            <a:ext cx="2468880" cy="438912"/>
          </a:xfrm>
          <a:prstGeom prst="rect">
            <a:avLst/>
          </a:prstGeom>
          <a:noFill/>
          <a:ln/>
        </p:spPr>
        <p:txBody>
          <a:bodyPr wrap="square" lIns="0" tIns="0" rIns="0" bIns="0" rtlCol="0" anchor="ctr"/>
          <a:lstStyle/>
          <a:p>
            <a:r>
              <a:rPr lang="en-US" sz="1000">
                <a:solidFill>
                  <a:srgbClr val="1E293B"/>
                </a:solidFill>
                <a:latin typeface="Calibri"/>
                <a:ea typeface="Calibri"/>
                <a:cs typeface="Calibri"/>
              </a:rPr>
              <a:t>• Local Lesions (Microaneurysms, hemorrhages, exudates)</a:t>
            </a:r>
            <a:endParaRPr lang="en-US" sz="1000">
              <a:latin typeface="Calibri"/>
              <a:ea typeface="Calibri"/>
              <a:cs typeface="Calibri"/>
            </a:endParaRPr>
          </a:p>
        </p:txBody>
      </p:sp>
      <p:sp>
        <p:nvSpPr>
          <p:cNvPr id="29" name="Text 27"/>
          <p:cNvSpPr/>
          <p:nvPr/>
        </p:nvSpPr>
        <p:spPr>
          <a:xfrm>
            <a:off x="548640" y="4041648"/>
            <a:ext cx="2468880" cy="43891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Global Average Pooling → fcnn</a:t>
            </a:r>
            <a:endParaRPr lang="en-US" sz="1000" dirty="0"/>
          </a:p>
        </p:txBody>
      </p:sp>
      <p:sp>
        <p:nvSpPr>
          <p:cNvPr id="30" name="Shape 28"/>
          <p:cNvSpPr/>
          <p:nvPr/>
        </p:nvSpPr>
        <p:spPr>
          <a:xfrm>
            <a:off x="3355848" y="2286000"/>
            <a:ext cx="2651760" cy="2423160"/>
          </a:xfrm>
          <a:prstGeom prst="rect">
            <a:avLst/>
          </a:prstGeom>
          <a:solidFill>
            <a:srgbClr val="F0F7FA"/>
          </a:solidFill>
          <a:ln w="19050">
            <a:solidFill>
              <a:srgbClr val="8E44AD"/>
            </a:solidFill>
            <a:prstDash val="solid"/>
          </a:ln>
          <a:effectLst>
            <a:outerShdw blurRad="63500" dist="25400" dir="8100000" algn="bl" rotWithShape="0">
              <a:srgbClr val="000000">
                <a:alpha val="12000"/>
              </a:srgbClr>
            </a:outerShdw>
          </a:effectLst>
        </p:spPr>
      </p:sp>
      <p:sp>
        <p:nvSpPr>
          <p:cNvPr id="31" name="Shape 29"/>
          <p:cNvSpPr/>
          <p:nvPr/>
        </p:nvSpPr>
        <p:spPr>
          <a:xfrm>
            <a:off x="3355848" y="2286000"/>
            <a:ext cx="2651760" cy="438912"/>
          </a:xfrm>
          <a:prstGeom prst="rect">
            <a:avLst/>
          </a:prstGeom>
          <a:solidFill>
            <a:srgbClr val="8E44AD"/>
          </a:solidFill>
          <a:ln w="12700">
            <a:solidFill>
              <a:srgbClr val="8E44AD"/>
            </a:solidFill>
            <a:prstDash val="solid"/>
          </a:ln>
        </p:spPr>
      </p:sp>
      <p:sp>
        <p:nvSpPr>
          <p:cNvPr id="32" name="Text 30"/>
          <p:cNvSpPr/>
          <p:nvPr/>
        </p:nvSpPr>
        <p:spPr>
          <a:xfrm>
            <a:off x="3447288" y="2313432"/>
            <a:ext cx="246888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GNN Branch</a:t>
            </a:r>
            <a:endParaRPr lang="en-US" sz="1200" dirty="0"/>
          </a:p>
        </p:txBody>
      </p:sp>
      <p:sp>
        <p:nvSpPr>
          <p:cNvPr id="33" name="Text 31"/>
          <p:cNvSpPr/>
          <p:nvPr/>
        </p:nvSpPr>
        <p:spPr>
          <a:xfrm>
            <a:off x="3447288" y="2761488"/>
            <a:ext cx="2468880" cy="292608"/>
          </a:xfrm>
          <a:prstGeom prst="rect">
            <a:avLst/>
          </a:prstGeom>
          <a:noFill/>
          <a:ln/>
        </p:spPr>
        <p:txBody>
          <a:bodyPr wrap="square" lIns="0" tIns="0" rIns="0" bIns="0" rtlCol="0" anchor="ctr"/>
          <a:lstStyle/>
          <a:p>
            <a:pPr marL="0" indent="0">
              <a:buNone/>
            </a:pPr>
            <a:r>
              <a:rPr lang="en-US" sz="1000" i="1" dirty="0">
                <a:solidFill>
                  <a:srgbClr val="8E44AD"/>
                </a:solidFill>
                <a:latin typeface="Calibri" pitchFamily="34" charset="0"/>
                <a:ea typeface="Calibri" pitchFamily="34" charset="-122"/>
                <a:cs typeface="Calibri" pitchFamily="34" charset="-120"/>
              </a:rPr>
              <a:t>Graph Attention Network (GAT)</a:t>
            </a:r>
            <a:endParaRPr lang="en-US" sz="1000" dirty="0"/>
          </a:p>
        </p:txBody>
      </p:sp>
      <p:sp>
        <p:nvSpPr>
          <p:cNvPr id="34" name="Text 32"/>
          <p:cNvSpPr/>
          <p:nvPr/>
        </p:nvSpPr>
        <p:spPr>
          <a:xfrm>
            <a:off x="3447288" y="3090672"/>
            <a:ext cx="2468880" cy="43891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Vessel junction nodes + k-NN edges</a:t>
            </a:r>
            <a:endParaRPr lang="en-US" sz="1000" dirty="0"/>
          </a:p>
        </p:txBody>
      </p:sp>
      <p:sp>
        <p:nvSpPr>
          <p:cNvPr id="35" name="Text 33"/>
          <p:cNvSpPr/>
          <p:nvPr/>
        </p:nvSpPr>
        <p:spPr>
          <a:xfrm>
            <a:off x="3447288" y="3566160"/>
            <a:ext cx="2468880" cy="43891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Multi-head attention message passing</a:t>
            </a:r>
            <a:endParaRPr lang="en-US" sz="1000" dirty="0"/>
          </a:p>
        </p:txBody>
      </p:sp>
      <p:sp>
        <p:nvSpPr>
          <p:cNvPr id="36" name="Text 34"/>
          <p:cNvSpPr/>
          <p:nvPr/>
        </p:nvSpPr>
        <p:spPr>
          <a:xfrm>
            <a:off x="3447288" y="4041648"/>
            <a:ext cx="2468880" cy="43891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Graph pooling → fgnn</a:t>
            </a:r>
            <a:endParaRPr lang="en-US" sz="1000" dirty="0"/>
          </a:p>
        </p:txBody>
      </p:sp>
      <p:sp>
        <p:nvSpPr>
          <p:cNvPr id="37" name="Shape 35"/>
          <p:cNvSpPr/>
          <p:nvPr/>
        </p:nvSpPr>
        <p:spPr>
          <a:xfrm>
            <a:off x="6254496" y="2286000"/>
            <a:ext cx="2651760" cy="2423160"/>
          </a:xfrm>
          <a:prstGeom prst="rect">
            <a:avLst/>
          </a:prstGeom>
          <a:solidFill>
            <a:srgbClr val="F0F7FA"/>
          </a:solidFill>
          <a:ln w="19050">
            <a:solidFill>
              <a:srgbClr val="E67E22"/>
            </a:solidFill>
            <a:prstDash val="solid"/>
          </a:ln>
          <a:effectLst>
            <a:outerShdw blurRad="63500" dist="25400" dir="8100000" algn="bl" rotWithShape="0">
              <a:srgbClr val="000000">
                <a:alpha val="12000"/>
              </a:srgbClr>
            </a:outerShdw>
          </a:effectLst>
        </p:spPr>
      </p:sp>
      <p:sp>
        <p:nvSpPr>
          <p:cNvPr id="38" name="Shape 36"/>
          <p:cNvSpPr/>
          <p:nvPr/>
        </p:nvSpPr>
        <p:spPr>
          <a:xfrm>
            <a:off x="6254496" y="2286000"/>
            <a:ext cx="2651760" cy="438912"/>
          </a:xfrm>
          <a:prstGeom prst="rect">
            <a:avLst/>
          </a:prstGeom>
          <a:solidFill>
            <a:srgbClr val="E67E22"/>
          </a:solidFill>
          <a:ln w="12700">
            <a:solidFill>
              <a:srgbClr val="E67E22"/>
            </a:solidFill>
            <a:prstDash val="solid"/>
          </a:ln>
        </p:spPr>
      </p:sp>
      <p:sp>
        <p:nvSpPr>
          <p:cNvPr id="39" name="Text 37"/>
          <p:cNvSpPr/>
          <p:nvPr/>
        </p:nvSpPr>
        <p:spPr>
          <a:xfrm>
            <a:off x="6345936" y="2313432"/>
            <a:ext cx="2468880"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Transformer Branch</a:t>
            </a:r>
            <a:endParaRPr lang="en-US" sz="1200" dirty="0"/>
          </a:p>
        </p:txBody>
      </p:sp>
      <p:sp>
        <p:nvSpPr>
          <p:cNvPr id="40" name="Text 38"/>
          <p:cNvSpPr/>
          <p:nvPr/>
        </p:nvSpPr>
        <p:spPr>
          <a:xfrm>
            <a:off x="6345936" y="2761488"/>
            <a:ext cx="2468880" cy="292608"/>
          </a:xfrm>
          <a:prstGeom prst="rect">
            <a:avLst/>
          </a:prstGeom>
          <a:noFill/>
          <a:ln/>
        </p:spPr>
        <p:txBody>
          <a:bodyPr wrap="square" lIns="0" tIns="0" rIns="0" bIns="0" rtlCol="0" anchor="ctr"/>
          <a:lstStyle/>
          <a:p>
            <a:pPr marL="0" indent="0">
              <a:buNone/>
            </a:pPr>
            <a:r>
              <a:rPr lang="en-US" sz="1000" i="1" dirty="0">
                <a:solidFill>
                  <a:srgbClr val="E67E22"/>
                </a:solidFill>
                <a:latin typeface="Calibri" pitchFamily="34" charset="0"/>
                <a:ea typeface="Calibri" pitchFamily="34" charset="-122"/>
                <a:cs typeface="Calibri" pitchFamily="34" charset="-120"/>
              </a:rPr>
              <a:t>Vision Transformer (ViT)</a:t>
            </a:r>
            <a:endParaRPr lang="en-US" sz="1000" dirty="0"/>
          </a:p>
        </p:txBody>
      </p:sp>
      <p:sp>
        <p:nvSpPr>
          <p:cNvPr id="41" name="Text 39"/>
          <p:cNvSpPr/>
          <p:nvPr/>
        </p:nvSpPr>
        <p:spPr>
          <a:xfrm>
            <a:off x="6345936" y="3090672"/>
            <a:ext cx="2468880" cy="43891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Patch embedding + positional encoding</a:t>
            </a:r>
            <a:endParaRPr lang="en-US" sz="1000" dirty="0"/>
          </a:p>
        </p:txBody>
      </p:sp>
      <p:sp>
        <p:nvSpPr>
          <p:cNvPr id="42" name="Text 40"/>
          <p:cNvSpPr/>
          <p:nvPr/>
        </p:nvSpPr>
        <p:spPr>
          <a:xfrm>
            <a:off x="6345936" y="3566160"/>
            <a:ext cx="2468880" cy="43891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Multi-head self-attention (MHSA)</a:t>
            </a:r>
            <a:endParaRPr lang="en-US" sz="1000" dirty="0"/>
          </a:p>
        </p:txBody>
      </p:sp>
      <p:sp>
        <p:nvSpPr>
          <p:cNvPr id="43" name="Text 41"/>
          <p:cNvSpPr/>
          <p:nvPr/>
        </p:nvSpPr>
        <p:spPr>
          <a:xfrm>
            <a:off x="6345936" y="4041648"/>
            <a:ext cx="2468880" cy="43891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CLS token extraction → ftr</a:t>
            </a:r>
            <a:endParaRPr lang="en-US" sz="1000" dirty="0"/>
          </a:p>
        </p:txBody>
      </p:sp>
      <p:sp>
        <p:nvSpPr>
          <p:cNvPr id="44" name="Shape 42"/>
          <p:cNvSpPr/>
          <p:nvPr/>
        </p:nvSpPr>
        <p:spPr>
          <a:xfrm>
            <a:off x="1097280" y="4727448"/>
            <a:ext cx="6949440" cy="292608"/>
          </a:xfrm>
          <a:prstGeom prst="rect">
            <a:avLst/>
          </a:prstGeom>
          <a:solidFill>
            <a:srgbClr val="E74C3C"/>
          </a:solidFill>
          <a:ln w="12700">
            <a:solidFill>
              <a:srgbClr val="E74C3C"/>
            </a:solidFill>
            <a:prstDash val="solid"/>
          </a:ln>
        </p:spPr>
      </p:sp>
      <p:sp>
        <p:nvSpPr>
          <p:cNvPr id="45" name="Text 43"/>
          <p:cNvSpPr/>
          <p:nvPr/>
        </p:nvSpPr>
        <p:spPr>
          <a:xfrm>
            <a:off x="1097280" y="4736592"/>
            <a:ext cx="694944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Bidirectional Cross-Attention  →  Feature Concatenation  →  MLP Classification Head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Step 1: Image Preprocessing Pipeline</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365760" y="1005840"/>
            <a:ext cx="1463040" cy="658368"/>
          </a:xfrm>
          <a:prstGeom prst="rect">
            <a:avLst/>
          </a:prstGeom>
          <a:solidFill>
            <a:srgbClr val="0A2540"/>
          </a:solidFill>
          <a:ln w="12700">
            <a:solidFill>
              <a:srgbClr val="0A2540"/>
            </a:solidFill>
            <a:prstDash val="solid"/>
          </a:ln>
        </p:spPr>
      </p:sp>
      <p:sp>
        <p:nvSpPr>
          <p:cNvPr id="6" name="Text 4"/>
          <p:cNvSpPr/>
          <p:nvPr/>
        </p:nvSpPr>
        <p:spPr>
          <a:xfrm>
            <a:off x="365760" y="1024128"/>
            <a:ext cx="146304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Original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Fundus Image</a:t>
            </a:r>
            <a:endParaRPr lang="en-US" sz="1100" dirty="0"/>
          </a:p>
        </p:txBody>
      </p:sp>
      <p:sp>
        <p:nvSpPr>
          <p:cNvPr id="7" name="Shape 5"/>
          <p:cNvSpPr/>
          <p:nvPr/>
        </p:nvSpPr>
        <p:spPr>
          <a:xfrm>
            <a:off x="1837944" y="1335024"/>
            <a:ext cx="210312" cy="0"/>
          </a:xfrm>
          <a:prstGeom prst="line">
            <a:avLst/>
          </a:prstGeom>
          <a:noFill/>
          <a:ln w="25400">
            <a:solidFill>
              <a:srgbClr val="64748B"/>
            </a:solidFill>
            <a:prstDash val="solid"/>
          </a:ln>
        </p:spPr>
      </p:sp>
      <p:sp>
        <p:nvSpPr>
          <p:cNvPr id="8" name="Text 6"/>
          <p:cNvSpPr/>
          <p:nvPr/>
        </p:nvSpPr>
        <p:spPr>
          <a:xfrm>
            <a:off x="274320" y="1719072"/>
            <a:ext cx="1645920" cy="5029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Variable contrast, illumination, resolution</a:t>
            </a:r>
            <a:endParaRPr lang="en-US" sz="900" dirty="0"/>
          </a:p>
        </p:txBody>
      </p:sp>
      <p:sp>
        <p:nvSpPr>
          <p:cNvPr id="9" name="Shape 7"/>
          <p:cNvSpPr/>
          <p:nvPr/>
        </p:nvSpPr>
        <p:spPr>
          <a:xfrm>
            <a:off x="2057400" y="1005840"/>
            <a:ext cx="1463040" cy="658368"/>
          </a:xfrm>
          <a:prstGeom prst="rect">
            <a:avLst/>
          </a:prstGeom>
          <a:solidFill>
            <a:srgbClr val="0D7A8A"/>
          </a:solidFill>
          <a:ln w="12700">
            <a:solidFill>
              <a:srgbClr val="0D7A8A"/>
            </a:solidFill>
            <a:prstDash val="solid"/>
          </a:ln>
        </p:spPr>
      </p:sp>
      <p:sp>
        <p:nvSpPr>
          <p:cNvPr id="10" name="Text 8"/>
          <p:cNvSpPr/>
          <p:nvPr/>
        </p:nvSpPr>
        <p:spPr>
          <a:xfrm>
            <a:off x="2057400" y="1024128"/>
            <a:ext cx="146304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Resize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512×512px</a:t>
            </a:r>
            <a:endParaRPr lang="en-US" sz="1100" dirty="0"/>
          </a:p>
        </p:txBody>
      </p:sp>
      <p:sp>
        <p:nvSpPr>
          <p:cNvPr id="11" name="Shape 9"/>
          <p:cNvSpPr/>
          <p:nvPr/>
        </p:nvSpPr>
        <p:spPr>
          <a:xfrm>
            <a:off x="3529584" y="1335024"/>
            <a:ext cx="210312" cy="0"/>
          </a:xfrm>
          <a:prstGeom prst="line">
            <a:avLst/>
          </a:prstGeom>
          <a:noFill/>
          <a:ln w="25400">
            <a:solidFill>
              <a:srgbClr val="64748B"/>
            </a:solidFill>
            <a:prstDash val="solid"/>
          </a:ln>
        </p:spPr>
      </p:sp>
      <p:sp>
        <p:nvSpPr>
          <p:cNvPr id="12" name="Text 10"/>
          <p:cNvSpPr/>
          <p:nvPr/>
        </p:nvSpPr>
        <p:spPr>
          <a:xfrm>
            <a:off x="1965960" y="1719072"/>
            <a:ext cx="1645920" cy="5029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Consistent input for multi-scale extraction</a:t>
            </a:r>
            <a:endParaRPr lang="en-US" sz="900" dirty="0"/>
          </a:p>
        </p:txBody>
      </p:sp>
      <p:sp>
        <p:nvSpPr>
          <p:cNvPr id="13" name="Shape 11"/>
          <p:cNvSpPr/>
          <p:nvPr/>
        </p:nvSpPr>
        <p:spPr>
          <a:xfrm>
            <a:off x="3749040" y="1005840"/>
            <a:ext cx="1463040" cy="658368"/>
          </a:xfrm>
          <a:prstGeom prst="rect">
            <a:avLst/>
          </a:prstGeom>
          <a:solidFill>
            <a:srgbClr val="8E44AD"/>
          </a:solidFill>
          <a:ln w="12700">
            <a:solidFill>
              <a:srgbClr val="8E44AD"/>
            </a:solidFill>
            <a:prstDash val="solid"/>
          </a:ln>
        </p:spPr>
      </p:sp>
      <p:sp>
        <p:nvSpPr>
          <p:cNvPr id="14" name="Text 12"/>
          <p:cNvSpPr/>
          <p:nvPr/>
        </p:nvSpPr>
        <p:spPr>
          <a:xfrm>
            <a:off x="3749040" y="1024128"/>
            <a:ext cx="146304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CLAHE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Enhancement</a:t>
            </a:r>
            <a:endParaRPr lang="en-US" sz="1100" dirty="0"/>
          </a:p>
        </p:txBody>
      </p:sp>
      <p:sp>
        <p:nvSpPr>
          <p:cNvPr id="15" name="Shape 13"/>
          <p:cNvSpPr/>
          <p:nvPr/>
        </p:nvSpPr>
        <p:spPr>
          <a:xfrm>
            <a:off x="5221224" y="1335024"/>
            <a:ext cx="210312" cy="0"/>
          </a:xfrm>
          <a:prstGeom prst="line">
            <a:avLst/>
          </a:prstGeom>
          <a:noFill/>
          <a:ln w="25400">
            <a:solidFill>
              <a:srgbClr val="64748B"/>
            </a:solidFill>
            <a:prstDash val="solid"/>
          </a:ln>
        </p:spPr>
      </p:sp>
      <p:sp>
        <p:nvSpPr>
          <p:cNvPr id="16" name="Text 14"/>
          <p:cNvSpPr/>
          <p:nvPr/>
        </p:nvSpPr>
        <p:spPr>
          <a:xfrm>
            <a:off x="3657600" y="1719072"/>
            <a:ext cx="1645920" cy="5029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Improves vessel &amp; lesion visibility locally</a:t>
            </a:r>
            <a:endParaRPr lang="en-US" sz="900" dirty="0"/>
          </a:p>
        </p:txBody>
      </p:sp>
      <p:sp>
        <p:nvSpPr>
          <p:cNvPr id="17" name="Shape 15"/>
          <p:cNvSpPr/>
          <p:nvPr/>
        </p:nvSpPr>
        <p:spPr>
          <a:xfrm>
            <a:off x="5440680" y="1005840"/>
            <a:ext cx="1463040" cy="658368"/>
          </a:xfrm>
          <a:prstGeom prst="rect">
            <a:avLst/>
          </a:prstGeom>
          <a:solidFill>
            <a:srgbClr val="E67E22"/>
          </a:solidFill>
          <a:ln w="12700">
            <a:solidFill>
              <a:srgbClr val="E67E22"/>
            </a:solidFill>
            <a:prstDash val="solid"/>
          </a:ln>
        </p:spPr>
      </p:sp>
      <p:sp>
        <p:nvSpPr>
          <p:cNvPr id="18" name="Text 16"/>
          <p:cNvSpPr/>
          <p:nvPr/>
        </p:nvSpPr>
        <p:spPr>
          <a:xfrm>
            <a:off x="5440680" y="1024128"/>
            <a:ext cx="146304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Normalize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(per-channel)</a:t>
            </a:r>
            <a:endParaRPr lang="en-US" sz="1100" dirty="0"/>
          </a:p>
        </p:txBody>
      </p:sp>
      <p:sp>
        <p:nvSpPr>
          <p:cNvPr id="19" name="Shape 17"/>
          <p:cNvSpPr/>
          <p:nvPr/>
        </p:nvSpPr>
        <p:spPr>
          <a:xfrm>
            <a:off x="6912864" y="1335024"/>
            <a:ext cx="210312" cy="0"/>
          </a:xfrm>
          <a:prstGeom prst="line">
            <a:avLst/>
          </a:prstGeom>
          <a:noFill/>
          <a:ln w="25400">
            <a:solidFill>
              <a:srgbClr val="64748B"/>
            </a:solidFill>
            <a:prstDash val="solid"/>
          </a:ln>
        </p:spPr>
      </p:sp>
      <p:sp>
        <p:nvSpPr>
          <p:cNvPr id="20" name="Text 18"/>
          <p:cNvSpPr/>
          <p:nvPr/>
        </p:nvSpPr>
        <p:spPr>
          <a:xfrm>
            <a:off x="5349240" y="1719072"/>
            <a:ext cx="1645920" cy="5029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Mean subtraction + std normalization</a:t>
            </a:r>
            <a:endParaRPr lang="en-US" sz="900" dirty="0"/>
          </a:p>
        </p:txBody>
      </p:sp>
      <p:sp>
        <p:nvSpPr>
          <p:cNvPr id="21" name="Shape 19"/>
          <p:cNvSpPr/>
          <p:nvPr/>
        </p:nvSpPr>
        <p:spPr>
          <a:xfrm>
            <a:off x="7132320" y="1005840"/>
            <a:ext cx="1463040" cy="658368"/>
          </a:xfrm>
          <a:prstGeom prst="rect">
            <a:avLst/>
          </a:prstGeom>
          <a:solidFill>
            <a:srgbClr val="02C39A"/>
          </a:solidFill>
          <a:ln w="12700">
            <a:solidFill>
              <a:srgbClr val="02C39A"/>
            </a:solidFill>
            <a:prstDash val="solid"/>
          </a:ln>
        </p:spPr>
      </p:sp>
      <p:sp>
        <p:nvSpPr>
          <p:cNvPr id="22" name="Text 20"/>
          <p:cNvSpPr/>
          <p:nvPr/>
        </p:nvSpPr>
        <p:spPr>
          <a:xfrm>
            <a:off x="7132320" y="1024128"/>
            <a:ext cx="146304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Augmentation</a:t>
            </a:r>
            <a:endParaRPr lang="en-US" sz="1100" dirty="0"/>
          </a:p>
        </p:txBody>
      </p:sp>
      <p:sp>
        <p:nvSpPr>
          <p:cNvPr id="23" name="Text 21"/>
          <p:cNvSpPr/>
          <p:nvPr/>
        </p:nvSpPr>
        <p:spPr>
          <a:xfrm>
            <a:off x="7040880" y="1719072"/>
            <a:ext cx="1645920" cy="5029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Flip, rotate ±30°, brightness, color jitter</a:t>
            </a:r>
            <a:endParaRPr lang="en-US" sz="900" dirty="0"/>
          </a:p>
        </p:txBody>
      </p:sp>
      <p:sp>
        <p:nvSpPr>
          <p:cNvPr id="24" name="Text 22"/>
          <p:cNvSpPr/>
          <p:nvPr/>
        </p:nvSpPr>
        <p:spPr>
          <a:xfrm>
            <a:off x="457200" y="2423160"/>
            <a:ext cx="4114800" cy="292608"/>
          </a:xfrm>
          <a:prstGeom prst="rect">
            <a:avLst/>
          </a:prstGeom>
          <a:noFill/>
          <a:ln/>
        </p:spPr>
        <p:txBody>
          <a:bodyPr wrap="square" rtlCol="0" anchor="ctr"/>
          <a:lstStyle/>
          <a:p>
            <a:pPr marL="0" indent="0">
              <a:buNone/>
            </a:pPr>
            <a:r>
              <a:rPr lang="en-US" sz="1400" b="1" dirty="0">
                <a:solidFill>
                  <a:srgbClr val="0D7A8A"/>
                </a:solidFill>
                <a:latin typeface="Calibri" pitchFamily="34" charset="0"/>
                <a:ea typeface="Calibri" pitchFamily="34" charset="-122"/>
                <a:cs typeface="Calibri" pitchFamily="34" charset="-120"/>
              </a:rPr>
              <a:t>Why CLAHE?</a:t>
            </a:r>
            <a:endParaRPr lang="en-US" sz="1400" dirty="0"/>
          </a:p>
        </p:txBody>
      </p:sp>
      <p:sp>
        <p:nvSpPr>
          <p:cNvPr id="25" name="Text 23"/>
          <p:cNvSpPr/>
          <p:nvPr/>
        </p:nvSpPr>
        <p:spPr>
          <a:xfrm>
            <a:off x="457200" y="2743200"/>
            <a:ext cx="4114800" cy="214884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Operates on localized image tiles — avoids noise amplification in dark areas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Critical for detecting microaneurysms (tiny, &lt;5px) in dark retinal regions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Enhances thin vessel structures that indicate early vascular changes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Improves generalization across different fundus camera devices</a:t>
            </a:r>
            <a:endParaRPr lang="en-US" sz="1300" dirty="0"/>
          </a:p>
        </p:txBody>
      </p:sp>
      <p:sp>
        <p:nvSpPr>
          <p:cNvPr id="26" name="Text 24"/>
          <p:cNvSpPr/>
          <p:nvPr/>
        </p:nvSpPr>
        <p:spPr>
          <a:xfrm>
            <a:off x="4846320" y="2423160"/>
            <a:ext cx="3840480" cy="292608"/>
          </a:xfrm>
          <a:prstGeom prst="rect">
            <a:avLst/>
          </a:prstGeom>
          <a:noFill/>
          <a:ln/>
        </p:spPr>
        <p:txBody>
          <a:bodyPr wrap="square" rtlCol="0" anchor="ctr"/>
          <a:lstStyle/>
          <a:p>
            <a:pPr marL="0" indent="0">
              <a:buNone/>
            </a:pPr>
            <a:r>
              <a:rPr lang="en-US" sz="1400" b="1" dirty="0">
                <a:solidFill>
                  <a:srgbClr val="0D7A8A"/>
                </a:solidFill>
                <a:latin typeface="Calibri" pitchFamily="34" charset="0"/>
                <a:ea typeface="Calibri" pitchFamily="34" charset="-122"/>
                <a:cs typeface="Calibri" pitchFamily="34" charset="-120"/>
              </a:rPr>
              <a:t>Augmentation Strategy</a:t>
            </a:r>
            <a:endParaRPr lang="en-US" sz="1400" dirty="0"/>
          </a:p>
        </p:txBody>
      </p:sp>
      <p:sp>
        <p:nvSpPr>
          <p:cNvPr id="27" name="Text 25"/>
          <p:cNvSpPr/>
          <p:nvPr/>
        </p:nvSpPr>
        <p:spPr>
          <a:xfrm>
            <a:off x="4846320" y="2743200"/>
            <a:ext cx="3840480" cy="214884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Random horizontal &amp; vertical flipping</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Rotation within ±30 degrees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Brightness &amp; contrast perturbation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Color jitter to simulate camera variations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Applied on-the-fly during training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Step 2: Retinal Vessel Graph Construction</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457200" y="960120"/>
            <a:ext cx="2651760" cy="2926080"/>
          </a:xfrm>
          <a:prstGeom prst="rect">
            <a:avLst/>
          </a:prstGeom>
          <a:solidFill>
            <a:srgbClr val="F0F7FA"/>
          </a:solidFill>
          <a:ln w="25400">
            <a:solidFill>
              <a:srgbClr val="0D7A8A"/>
            </a:solidFill>
            <a:prstDash val="solid"/>
          </a:ln>
          <a:effectLst>
            <a:outerShdw blurRad="63500" dist="25400" dir="8100000" algn="bl" rotWithShape="0">
              <a:srgbClr val="000000">
                <a:alpha val="12000"/>
              </a:srgbClr>
            </a:outerShdw>
          </a:effectLst>
        </p:spPr>
      </p:sp>
      <p:sp>
        <p:nvSpPr>
          <p:cNvPr id="6" name="Shape 4"/>
          <p:cNvSpPr/>
          <p:nvPr/>
        </p:nvSpPr>
        <p:spPr>
          <a:xfrm>
            <a:off x="1417320" y="1078992"/>
            <a:ext cx="713232" cy="713232"/>
          </a:xfrm>
          <a:prstGeom prst="ellipse">
            <a:avLst/>
          </a:prstGeom>
          <a:solidFill>
            <a:srgbClr val="0D7A8A"/>
          </a:solidFill>
          <a:ln w="12700">
            <a:solidFill>
              <a:srgbClr val="0D7A8A"/>
            </a:solidFill>
            <a:prstDash val="solid"/>
          </a:ln>
        </p:spPr>
      </p:sp>
      <p:sp>
        <p:nvSpPr>
          <p:cNvPr id="7" name="Text 5"/>
          <p:cNvSpPr/>
          <p:nvPr/>
        </p:nvSpPr>
        <p:spPr>
          <a:xfrm>
            <a:off x="1417320" y="1097280"/>
            <a:ext cx="713232" cy="676656"/>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8" name="Text 6"/>
          <p:cNvSpPr/>
          <p:nvPr/>
        </p:nvSpPr>
        <p:spPr>
          <a:xfrm>
            <a:off x="548640" y="1920240"/>
            <a:ext cx="2468880" cy="365760"/>
          </a:xfrm>
          <a:prstGeom prst="rect">
            <a:avLst/>
          </a:prstGeom>
          <a:noFill/>
          <a:ln/>
        </p:spPr>
        <p:txBody>
          <a:bodyPr wrap="square" rtlCol="0" anchor="ctr"/>
          <a:lstStyle/>
          <a:p>
            <a:pPr marL="0" indent="0" algn="ctr">
              <a:buNone/>
            </a:pPr>
            <a:r>
              <a:rPr lang="en-US" sz="1300" b="1" dirty="0">
                <a:solidFill>
                  <a:srgbClr val="0D7A8A"/>
                </a:solidFill>
                <a:latin typeface="Calibri" pitchFamily="34" charset="0"/>
                <a:ea typeface="Calibri" pitchFamily="34" charset="-122"/>
                <a:cs typeface="Calibri" pitchFamily="34" charset="-120"/>
              </a:rPr>
              <a:t>Vessel Segmentation</a:t>
            </a:r>
            <a:endParaRPr lang="en-US" sz="1300" dirty="0"/>
          </a:p>
        </p:txBody>
      </p:sp>
      <p:sp>
        <p:nvSpPr>
          <p:cNvPr id="9" name="Text 7"/>
          <p:cNvSpPr/>
          <p:nvPr/>
        </p:nvSpPr>
        <p:spPr>
          <a:xfrm>
            <a:off x="594360" y="2331720"/>
            <a:ext cx="2377440" cy="146304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Frangi vesselness filter + morphological ops → Binary vessel mask</a:t>
            </a:r>
            <a:endParaRPr lang="en-US" sz="1100" dirty="0"/>
          </a:p>
        </p:txBody>
      </p:sp>
      <p:sp>
        <p:nvSpPr>
          <p:cNvPr id="10" name="Shape 8"/>
          <p:cNvSpPr/>
          <p:nvPr/>
        </p:nvSpPr>
        <p:spPr>
          <a:xfrm>
            <a:off x="3118104" y="2423160"/>
            <a:ext cx="228600" cy="0"/>
          </a:xfrm>
          <a:prstGeom prst="line">
            <a:avLst/>
          </a:prstGeom>
          <a:noFill/>
          <a:ln w="25400">
            <a:solidFill>
              <a:srgbClr val="64748B"/>
            </a:solidFill>
            <a:prstDash val="solid"/>
          </a:ln>
        </p:spPr>
      </p:sp>
      <p:sp>
        <p:nvSpPr>
          <p:cNvPr id="11" name="Shape 9"/>
          <p:cNvSpPr/>
          <p:nvPr/>
        </p:nvSpPr>
        <p:spPr>
          <a:xfrm>
            <a:off x="3355848" y="960120"/>
            <a:ext cx="2651760" cy="2926080"/>
          </a:xfrm>
          <a:prstGeom prst="rect">
            <a:avLst/>
          </a:prstGeom>
          <a:solidFill>
            <a:srgbClr val="F0F7FA"/>
          </a:solidFill>
          <a:ln w="25400">
            <a:solidFill>
              <a:srgbClr val="8E44AD"/>
            </a:solidFill>
            <a:prstDash val="solid"/>
          </a:ln>
          <a:effectLst>
            <a:outerShdw blurRad="63500" dist="25400" dir="8100000" algn="bl" rotWithShape="0">
              <a:srgbClr val="000000">
                <a:alpha val="12000"/>
              </a:srgbClr>
            </a:outerShdw>
          </a:effectLst>
        </p:spPr>
      </p:sp>
      <p:sp>
        <p:nvSpPr>
          <p:cNvPr id="12" name="Shape 10"/>
          <p:cNvSpPr/>
          <p:nvPr/>
        </p:nvSpPr>
        <p:spPr>
          <a:xfrm>
            <a:off x="4315968" y="1078992"/>
            <a:ext cx="713232" cy="713232"/>
          </a:xfrm>
          <a:prstGeom prst="ellipse">
            <a:avLst/>
          </a:prstGeom>
          <a:solidFill>
            <a:srgbClr val="8E44AD"/>
          </a:solidFill>
          <a:ln w="12700">
            <a:solidFill>
              <a:srgbClr val="8E44AD"/>
            </a:solidFill>
            <a:prstDash val="solid"/>
          </a:ln>
        </p:spPr>
      </p:sp>
      <p:sp>
        <p:nvSpPr>
          <p:cNvPr id="13" name="Text 11"/>
          <p:cNvSpPr/>
          <p:nvPr/>
        </p:nvSpPr>
        <p:spPr>
          <a:xfrm>
            <a:off x="4315968" y="1097280"/>
            <a:ext cx="713232" cy="676656"/>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4" name="Text 12"/>
          <p:cNvSpPr/>
          <p:nvPr/>
        </p:nvSpPr>
        <p:spPr>
          <a:xfrm>
            <a:off x="3447288" y="1920240"/>
            <a:ext cx="2468880" cy="365760"/>
          </a:xfrm>
          <a:prstGeom prst="rect">
            <a:avLst/>
          </a:prstGeom>
          <a:noFill/>
          <a:ln/>
        </p:spPr>
        <p:txBody>
          <a:bodyPr wrap="square" rtlCol="0" anchor="ctr"/>
          <a:lstStyle/>
          <a:p>
            <a:pPr marL="0" indent="0" algn="ctr">
              <a:buNone/>
            </a:pPr>
            <a:r>
              <a:rPr lang="en-US" sz="1300" b="1" dirty="0">
                <a:solidFill>
                  <a:srgbClr val="8E44AD"/>
                </a:solidFill>
                <a:latin typeface="Calibri" pitchFamily="34" charset="0"/>
                <a:ea typeface="Calibri" pitchFamily="34" charset="-122"/>
                <a:cs typeface="Calibri" pitchFamily="34" charset="-120"/>
              </a:rPr>
              <a:t>Skeleton Extraction</a:t>
            </a:r>
            <a:endParaRPr lang="en-US" sz="1300" dirty="0"/>
          </a:p>
        </p:txBody>
      </p:sp>
      <p:sp>
        <p:nvSpPr>
          <p:cNvPr id="15" name="Text 13"/>
          <p:cNvSpPr/>
          <p:nvPr/>
        </p:nvSpPr>
        <p:spPr>
          <a:xfrm>
            <a:off x="3493008" y="2331720"/>
            <a:ext cx="2377440" cy="146304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Morphological thinning → 1px medial axis → Junction detection (≥3 neighbors)</a:t>
            </a:r>
            <a:endParaRPr lang="en-US" sz="1100" dirty="0"/>
          </a:p>
        </p:txBody>
      </p:sp>
      <p:sp>
        <p:nvSpPr>
          <p:cNvPr id="16" name="Shape 14"/>
          <p:cNvSpPr/>
          <p:nvPr/>
        </p:nvSpPr>
        <p:spPr>
          <a:xfrm>
            <a:off x="6016752" y="2423160"/>
            <a:ext cx="228600" cy="0"/>
          </a:xfrm>
          <a:prstGeom prst="line">
            <a:avLst/>
          </a:prstGeom>
          <a:noFill/>
          <a:ln w="25400">
            <a:solidFill>
              <a:srgbClr val="64748B"/>
            </a:solidFill>
            <a:prstDash val="solid"/>
          </a:ln>
        </p:spPr>
      </p:sp>
      <p:sp>
        <p:nvSpPr>
          <p:cNvPr id="17" name="Shape 15"/>
          <p:cNvSpPr/>
          <p:nvPr/>
        </p:nvSpPr>
        <p:spPr>
          <a:xfrm>
            <a:off x="6254496" y="960120"/>
            <a:ext cx="2651760" cy="2926080"/>
          </a:xfrm>
          <a:prstGeom prst="rect">
            <a:avLst/>
          </a:prstGeom>
          <a:solidFill>
            <a:srgbClr val="F0F7FA"/>
          </a:solidFill>
          <a:ln w="25400">
            <a:solidFill>
              <a:srgbClr val="E67E22"/>
            </a:solidFill>
            <a:prstDash val="solid"/>
          </a:ln>
          <a:effectLst>
            <a:outerShdw blurRad="63500" dist="25400" dir="8100000" algn="bl" rotWithShape="0">
              <a:srgbClr val="000000">
                <a:alpha val="12000"/>
              </a:srgbClr>
            </a:outerShdw>
          </a:effectLst>
        </p:spPr>
      </p:sp>
      <p:sp>
        <p:nvSpPr>
          <p:cNvPr id="18" name="Shape 16"/>
          <p:cNvSpPr/>
          <p:nvPr/>
        </p:nvSpPr>
        <p:spPr>
          <a:xfrm>
            <a:off x="7214616" y="1078992"/>
            <a:ext cx="713232" cy="713232"/>
          </a:xfrm>
          <a:prstGeom prst="ellipse">
            <a:avLst/>
          </a:prstGeom>
          <a:solidFill>
            <a:srgbClr val="E67E22"/>
          </a:solidFill>
          <a:ln w="12700">
            <a:solidFill>
              <a:srgbClr val="E67E22"/>
            </a:solidFill>
            <a:prstDash val="solid"/>
          </a:ln>
        </p:spPr>
      </p:sp>
      <p:sp>
        <p:nvSpPr>
          <p:cNvPr id="19" name="Text 17"/>
          <p:cNvSpPr/>
          <p:nvPr/>
        </p:nvSpPr>
        <p:spPr>
          <a:xfrm>
            <a:off x="7214616" y="1097280"/>
            <a:ext cx="713232" cy="676656"/>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0" name="Text 18"/>
          <p:cNvSpPr/>
          <p:nvPr/>
        </p:nvSpPr>
        <p:spPr>
          <a:xfrm>
            <a:off x="6345936" y="1920240"/>
            <a:ext cx="2468880" cy="365760"/>
          </a:xfrm>
          <a:prstGeom prst="rect">
            <a:avLst/>
          </a:prstGeom>
          <a:noFill/>
          <a:ln/>
        </p:spPr>
        <p:txBody>
          <a:bodyPr wrap="square" rtlCol="0" anchor="ctr"/>
          <a:lstStyle/>
          <a:p>
            <a:pPr marL="0" indent="0" algn="ctr">
              <a:buNone/>
            </a:pPr>
            <a:r>
              <a:rPr lang="en-US" sz="1300" b="1" dirty="0">
                <a:solidFill>
                  <a:srgbClr val="E67E22"/>
                </a:solidFill>
                <a:latin typeface="Calibri" pitchFamily="34" charset="0"/>
                <a:ea typeface="Calibri" pitchFamily="34" charset="-122"/>
                <a:cs typeface="Calibri" pitchFamily="34" charset="-120"/>
              </a:rPr>
              <a:t>Graph Encoding  G=(V,E)</a:t>
            </a:r>
            <a:endParaRPr lang="en-US" sz="1300" dirty="0"/>
          </a:p>
        </p:txBody>
      </p:sp>
      <p:sp>
        <p:nvSpPr>
          <p:cNvPr id="21" name="Text 19"/>
          <p:cNvSpPr/>
          <p:nvPr/>
        </p:nvSpPr>
        <p:spPr>
          <a:xfrm>
            <a:off x="6391656" y="2331720"/>
            <a:ext cx="2377440" cy="1463040"/>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Nodes = junctions/landmarks; Edges via k-NN spatial connectivity</a:t>
            </a:r>
            <a:endParaRPr lang="en-US" sz="1100" dirty="0"/>
          </a:p>
        </p:txBody>
      </p:sp>
      <p:sp>
        <p:nvSpPr>
          <p:cNvPr id="22" name="Text 20"/>
          <p:cNvSpPr/>
          <p:nvPr/>
        </p:nvSpPr>
        <p:spPr>
          <a:xfrm>
            <a:off x="457200" y="3794760"/>
            <a:ext cx="8229600" cy="388618"/>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Node Features  vi = (xi, yi, orientation, branch degree, vessel density)</a:t>
            </a:r>
            <a:endParaRPr lang="en-US" sz="1200" dirty="0"/>
          </a:p>
        </p:txBody>
      </p:sp>
      <p:sp>
        <p:nvSpPr>
          <p:cNvPr id="23" name="Text 21"/>
          <p:cNvSpPr/>
          <p:nvPr/>
        </p:nvSpPr>
        <p:spPr>
          <a:xfrm>
            <a:off x="457200" y="3714574"/>
            <a:ext cx="3931920" cy="903146"/>
          </a:xfrm>
          <a:prstGeom prst="rect">
            <a:avLst/>
          </a:prstGeom>
          <a:noFill/>
          <a:ln/>
        </p:spPr>
        <p:txBody>
          <a:bodyPr wrap="square"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Advantages over pixel-level vessel representations:</a:t>
            </a:r>
            <a:endParaRPr lang="en-US" sz="1200" dirty="0"/>
          </a:p>
        </p:txBody>
      </p:sp>
      <p:sp>
        <p:nvSpPr>
          <p:cNvPr id="24" name="Text 22"/>
          <p:cNvSpPr/>
          <p:nvPr/>
        </p:nvSpPr>
        <p:spPr>
          <a:xfrm>
            <a:off x="457200" y="4005072"/>
            <a:ext cx="4023360" cy="137160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Compact non-Euclidean representation — computationally efficient</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Encodes loop formation, branching asymmetry, capillary dropout</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Robust to local intensity variations from different cams</a:t>
            </a:r>
            <a:endParaRPr lang="en-US" sz="1200" dirty="0"/>
          </a:p>
        </p:txBody>
      </p:sp>
      <p:sp>
        <p:nvSpPr>
          <p:cNvPr id="25" name="Text 23"/>
          <p:cNvSpPr/>
          <p:nvPr/>
        </p:nvSpPr>
        <p:spPr>
          <a:xfrm>
            <a:off x="4572000" y="3714574"/>
            <a:ext cx="4114800" cy="903146"/>
          </a:xfrm>
          <a:prstGeom prst="rect">
            <a:avLst/>
          </a:prstGeom>
          <a:noFill/>
          <a:ln/>
        </p:spPr>
        <p:txBody>
          <a:bodyPr wrap="square" rtlCol="0" anchor="ctr"/>
          <a:lstStyle/>
          <a:p>
            <a:pPr marL="0" indent="0">
              <a:buNone/>
            </a:pPr>
            <a:r>
              <a:rPr lang="en-US" sz="1200" b="1" dirty="0">
                <a:solidFill>
                  <a:srgbClr val="0D7A8A"/>
                </a:solidFill>
                <a:latin typeface="Calibri" pitchFamily="34" charset="0"/>
                <a:ea typeface="Calibri" pitchFamily="34" charset="-122"/>
                <a:cs typeface="Calibri" pitchFamily="34" charset="-120"/>
              </a:rPr>
              <a:t>Clinical Relevance:</a:t>
            </a:r>
            <a:endParaRPr lang="en-US" sz="1200" dirty="0"/>
          </a:p>
        </p:txBody>
      </p:sp>
      <p:sp>
        <p:nvSpPr>
          <p:cNvPr id="26" name="Text 24"/>
          <p:cNvSpPr/>
          <p:nvPr/>
        </p:nvSpPr>
        <p:spPr>
          <a:xfrm>
            <a:off x="4572000" y="4064508"/>
            <a:ext cx="4114800" cy="1312164"/>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Vessel tortuosity → indicator of hypertensive retinopathy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Abnormal branching density → marker of neovascularization</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Capillary dropout → sign of ischemic damage in advanced DR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Isosceles Triangle 1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close-up of a human eye&#10;&#10;AI-generated content may be incorrect.">
            <a:extLst>
              <a:ext uri="{FF2B5EF4-FFF2-40B4-BE49-F238E27FC236}">
                <a16:creationId xmlns:a16="http://schemas.microsoft.com/office/drawing/2014/main" id="{BDA0245A-9D07-C0EC-DA48-E103EA1FE10C}"/>
              </a:ext>
            </a:extLst>
          </p:cNvPr>
          <p:cNvPicPr>
            <a:picLocks noChangeAspect="1"/>
          </p:cNvPicPr>
          <p:nvPr/>
        </p:nvPicPr>
        <p:blipFill>
          <a:blip r:embed="rId2"/>
          <a:stretch>
            <a:fillRect/>
          </a:stretch>
        </p:blipFill>
        <p:spPr>
          <a:xfrm>
            <a:off x="482600" y="1324483"/>
            <a:ext cx="8178799" cy="2494533"/>
          </a:xfrm>
          <a:prstGeom prst="rect">
            <a:avLst/>
          </a:prstGeom>
          <a:ln>
            <a:noFill/>
          </a:ln>
        </p:spPr>
      </p:pic>
      <p:sp>
        <p:nvSpPr>
          <p:cNvPr id="16" name="Isosceles Triangle 1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8973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CNN Branch: Local Lesion Representation</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Text 3"/>
          <p:cNvSpPr/>
          <p:nvPr/>
        </p:nvSpPr>
        <p:spPr>
          <a:xfrm>
            <a:off x="457200" y="960120"/>
            <a:ext cx="8229600" cy="320040"/>
          </a:xfrm>
          <a:prstGeom prst="rect">
            <a:avLst/>
          </a:prstGeom>
          <a:noFill/>
          <a:ln/>
        </p:spPr>
        <p:txBody>
          <a:bodyPr wrap="square" rtlCol="0" anchor="ctr"/>
          <a:lstStyle/>
          <a:p>
            <a:pPr marL="0" indent="0">
              <a:buNone/>
            </a:pPr>
            <a:r>
              <a:rPr lang="en-US" sz="1400" b="1" dirty="0">
                <a:solidFill>
                  <a:srgbClr val="0D7A8A"/>
                </a:solidFill>
                <a:latin typeface="Calibri" pitchFamily="34" charset="0"/>
                <a:ea typeface="Calibri" pitchFamily="34" charset="-122"/>
                <a:cs typeface="Calibri" pitchFamily="34" charset="-120"/>
              </a:rPr>
              <a:t>EfficientNet-B4 Backbone + Feature Pyramid Network</a:t>
            </a:r>
            <a:endParaRPr lang="en-US" sz="1400" dirty="0"/>
          </a:p>
        </p:txBody>
      </p:sp>
      <p:sp>
        <p:nvSpPr>
          <p:cNvPr id="6" name="Shape 4"/>
          <p:cNvSpPr/>
          <p:nvPr/>
        </p:nvSpPr>
        <p:spPr>
          <a:xfrm>
            <a:off x="365760" y="1371600"/>
            <a:ext cx="1508760" cy="731520"/>
          </a:xfrm>
          <a:prstGeom prst="rect">
            <a:avLst/>
          </a:prstGeom>
          <a:solidFill>
            <a:srgbClr val="0A2540"/>
          </a:solidFill>
          <a:ln w="12700">
            <a:solidFill>
              <a:srgbClr val="0A2540"/>
            </a:solidFill>
            <a:prstDash val="solid"/>
          </a:ln>
          <a:effectLst>
            <a:outerShdw blurRad="63500" dist="25400" dir="8100000" algn="bl" rotWithShape="0">
              <a:srgbClr val="000000">
                <a:alpha val="12000"/>
              </a:srgbClr>
            </a:outerShdw>
          </a:effectLst>
        </p:spPr>
      </p:sp>
      <p:sp>
        <p:nvSpPr>
          <p:cNvPr id="7" name="Text 5"/>
          <p:cNvSpPr/>
          <p:nvPr/>
        </p:nvSpPr>
        <p:spPr>
          <a:xfrm>
            <a:off x="365760" y="1389888"/>
            <a:ext cx="1508760" cy="6949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512×512×3</a:t>
            </a:r>
            <a:endParaRPr lang="en-US" sz="1000" dirty="0"/>
          </a:p>
        </p:txBody>
      </p:sp>
      <p:sp>
        <p:nvSpPr>
          <p:cNvPr id="8" name="Shape 6"/>
          <p:cNvSpPr/>
          <p:nvPr/>
        </p:nvSpPr>
        <p:spPr>
          <a:xfrm>
            <a:off x="1883664" y="1737360"/>
            <a:ext cx="182880" cy="0"/>
          </a:xfrm>
          <a:prstGeom prst="line">
            <a:avLst/>
          </a:prstGeom>
          <a:noFill/>
          <a:ln w="19050">
            <a:solidFill>
              <a:srgbClr val="64748B"/>
            </a:solidFill>
            <a:prstDash val="solid"/>
          </a:ln>
        </p:spPr>
      </p:sp>
      <p:sp>
        <p:nvSpPr>
          <p:cNvPr id="9" name="Shape 7"/>
          <p:cNvSpPr/>
          <p:nvPr/>
        </p:nvSpPr>
        <p:spPr>
          <a:xfrm>
            <a:off x="2075688" y="1371600"/>
            <a:ext cx="1508760" cy="731520"/>
          </a:xfrm>
          <a:prstGeom prst="rect">
            <a:avLst/>
          </a:prstGeom>
          <a:solidFill>
            <a:srgbClr val="0D7A8A"/>
          </a:solidFill>
          <a:ln w="12700">
            <a:solidFill>
              <a:srgbClr val="0D7A8A"/>
            </a:solidFill>
            <a:prstDash val="solid"/>
          </a:ln>
          <a:effectLst>
            <a:outerShdw blurRad="63500" dist="25400" dir="8100000" algn="bl" rotWithShape="0">
              <a:srgbClr val="000000">
                <a:alpha val="12000"/>
              </a:srgbClr>
            </a:outerShdw>
          </a:effectLst>
        </p:spPr>
      </p:sp>
      <p:sp>
        <p:nvSpPr>
          <p:cNvPr id="10" name="Text 8"/>
          <p:cNvSpPr/>
          <p:nvPr/>
        </p:nvSpPr>
        <p:spPr>
          <a:xfrm>
            <a:off x="2075688" y="1389888"/>
            <a:ext cx="1508760" cy="6949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EfficientNet-B4</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Encoder</a:t>
            </a:r>
            <a:endParaRPr lang="en-US" sz="1000" dirty="0"/>
          </a:p>
        </p:txBody>
      </p:sp>
      <p:sp>
        <p:nvSpPr>
          <p:cNvPr id="11" name="Shape 9"/>
          <p:cNvSpPr/>
          <p:nvPr/>
        </p:nvSpPr>
        <p:spPr>
          <a:xfrm>
            <a:off x="3593592" y="1737360"/>
            <a:ext cx="182880" cy="0"/>
          </a:xfrm>
          <a:prstGeom prst="line">
            <a:avLst/>
          </a:prstGeom>
          <a:noFill/>
          <a:ln w="19050">
            <a:solidFill>
              <a:srgbClr val="64748B"/>
            </a:solidFill>
            <a:prstDash val="solid"/>
          </a:ln>
        </p:spPr>
      </p:sp>
      <p:sp>
        <p:nvSpPr>
          <p:cNvPr id="12" name="Shape 10"/>
          <p:cNvSpPr/>
          <p:nvPr/>
        </p:nvSpPr>
        <p:spPr>
          <a:xfrm>
            <a:off x="3785616" y="1371600"/>
            <a:ext cx="1508760" cy="731520"/>
          </a:xfrm>
          <a:prstGeom prst="rect">
            <a:avLst/>
          </a:prstGeom>
          <a:solidFill>
            <a:srgbClr val="8E44AD"/>
          </a:solidFill>
          <a:ln w="12700">
            <a:solidFill>
              <a:srgbClr val="8E44AD"/>
            </a:solidFill>
            <a:prstDash val="solid"/>
          </a:ln>
          <a:effectLst>
            <a:outerShdw blurRad="63500" dist="25400" dir="8100000" algn="bl" rotWithShape="0">
              <a:srgbClr val="000000">
                <a:alpha val="12000"/>
              </a:srgbClr>
            </a:outerShdw>
          </a:effectLst>
        </p:spPr>
      </p:sp>
      <p:sp>
        <p:nvSpPr>
          <p:cNvPr id="13" name="Text 11"/>
          <p:cNvSpPr/>
          <p:nvPr/>
        </p:nvSpPr>
        <p:spPr>
          <a:xfrm>
            <a:off x="3785616" y="1389888"/>
            <a:ext cx="1508760" cy="6949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FPN Multi-Scale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Fusion</a:t>
            </a:r>
            <a:endParaRPr lang="en-US" sz="1000" dirty="0"/>
          </a:p>
        </p:txBody>
      </p:sp>
      <p:sp>
        <p:nvSpPr>
          <p:cNvPr id="14" name="Shape 12"/>
          <p:cNvSpPr/>
          <p:nvPr/>
        </p:nvSpPr>
        <p:spPr>
          <a:xfrm>
            <a:off x="5303520" y="1737360"/>
            <a:ext cx="182880" cy="0"/>
          </a:xfrm>
          <a:prstGeom prst="line">
            <a:avLst/>
          </a:prstGeom>
          <a:noFill/>
          <a:ln w="19050">
            <a:solidFill>
              <a:srgbClr val="64748B"/>
            </a:solidFill>
            <a:prstDash val="solid"/>
          </a:ln>
        </p:spPr>
      </p:sp>
      <p:sp>
        <p:nvSpPr>
          <p:cNvPr id="15" name="Shape 13"/>
          <p:cNvSpPr/>
          <p:nvPr/>
        </p:nvSpPr>
        <p:spPr>
          <a:xfrm>
            <a:off x="5495544" y="1371600"/>
            <a:ext cx="1508760" cy="731520"/>
          </a:xfrm>
          <a:prstGeom prst="rect">
            <a:avLst/>
          </a:prstGeom>
          <a:solidFill>
            <a:srgbClr val="E67E22"/>
          </a:solidFill>
          <a:ln w="12700">
            <a:solidFill>
              <a:srgbClr val="E67E22"/>
            </a:solidFill>
            <a:prstDash val="solid"/>
          </a:ln>
          <a:effectLst>
            <a:outerShdw blurRad="63500" dist="25400" dir="8100000" algn="bl" rotWithShape="0">
              <a:srgbClr val="000000">
                <a:alpha val="12000"/>
              </a:srgbClr>
            </a:outerShdw>
          </a:effectLst>
        </p:spPr>
      </p:sp>
      <p:sp>
        <p:nvSpPr>
          <p:cNvPr id="16" name="Text 14"/>
          <p:cNvSpPr/>
          <p:nvPr/>
        </p:nvSpPr>
        <p:spPr>
          <a:xfrm>
            <a:off x="5495544" y="1389888"/>
            <a:ext cx="1508760" cy="6949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Global Avg</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Pooling (GAP)</a:t>
            </a:r>
            <a:endParaRPr lang="en-US" sz="1000" dirty="0"/>
          </a:p>
        </p:txBody>
      </p:sp>
      <p:sp>
        <p:nvSpPr>
          <p:cNvPr id="17" name="Shape 15"/>
          <p:cNvSpPr/>
          <p:nvPr/>
        </p:nvSpPr>
        <p:spPr>
          <a:xfrm>
            <a:off x="7013448" y="1737360"/>
            <a:ext cx="182880" cy="0"/>
          </a:xfrm>
          <a:prstGeom prst="line">
            <a:avLst/>
          </a:prstGeom>
          <a:noFill/>
          <a:ln w="19050">
            <a:solidFill>
              <a:srgbClr val="64748B"/>
            </a:solidFill>
            <a:prstDash val="solid"/>
          </a:ln>
        </p:spPr>
      </p:sp>
      <p:sp>
        <p:nvSpPr>
          <p:cNvPr id="18" name="Shape 16"/>
          <p:cNvSpPr/>
          <p:nvPr/>
        </p:nvSpPr>
        <p:spPr>
          <a:xfrm>
            <a:off x="7205472" y="1371600"/>
            <a:ext cx="1508760" cy="731520"/>
          </a:xfrm>
          <a:prstGeom prst="rect">
            <a:avLst/>
          </a:prstGeom>
          <a:solidFill>
            <a:srgbClr val="02C39A"/>
          </a:solidFill>
          <a:ln w="12700">
            <a:solidFill>
              <a:srgbClr val="02C39A"/>
            </a:solidFill>
            <a:prstDash val="solid"/>
          </a:ln>
          <a:effectLst>
            <a:outerShdw blurRad="63500" dist="25400" dir="8100000" algn="bl" rotWithShape="0">
              <a:srgbClr val="000000">
                <a:alpha val="12000"/>
              </a:srgbClr>
            </a:outerShdw>
          </a:effectLst>
        </p:spPr>
      </p:sp>
      <p:sp>
        <p:nvSpPr>
          <p:cNvPr id="19" name="Text 17"/>
          <p:cNvSpPr/>
          <p:nvPr/>
        </p:nvSpPr>
        <p:spPr>
          <a:xfrm>
            <a:off x="7205472" y="1389888"/>
            <a:ext cx="1508760" cy="69494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fcnn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(1792-d)</a:t>
            </a:r>
            <a:endParaRPr lang="en-US" sz="1000" dirty="0"/>
          </a:p>
        </p:txBody>
      </p:sp>
      <p:sp>
        <p:nvSpPr>
          <p:cNvPr id="20" name="Text 18"/>
          <p:cNvSpPr/>
          <p:nvPr/>
        </p:nvSpPr>
        <p:spPr>
          <a:xfrm>
            <a:off x="457200" y="2286000"/>
            <a:ext cx="4114800" cy="292608"/>
          </a:xfrm>
          <a:prstGeom prst="rect">
            <a:avLst/>
          </a:prstGeom>
          <a:noFill/>
          <a:ln/>
        </p:spPr>
        <p:txBody>
          <a:bodyPr wrap="square"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Why EfficientNet-B4?</a:t>
            </a:r>
            <a:endParaRPr lang="en-US" sz="1400" dirty="0"/>
          </a:p>
        </p:txBody>
      </p:sp>
      <p:sp>
        <p:nvSpPr>
          <p:cNvPr id="21" name="Text 19"/>
          <p:cNvSpPr/>
          <p:nvPr/>
        </p:nvSpPr>
        <p:spPr>
          <a:xfrm>
            <a:off x="457200" y="2606040"/>
            <a:ext cx="4114800" cy="18288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Compound scaling: balances depth, width &amp; resolution jointly</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Achieves competitive accuracy with fewer parameters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Pretrained on ImageNet → transfers low-level visual features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Well-suited for limited medical imaging datasets</a:t>
            </a:r>
            <a:endParaRPr lang="en-US" sz="1300" dirty="0"/>
          </a:p>
        </p:txBody>
      </p:sp>
      <p:sp>
        <p:nvSpPr>
          <p:cNvPr id="22" name="Text 20"/>
          <p:cNvSpPr/>
          <p:nvPr/>
        </p:nvSpPr>
        <p:spPr>
          <a:xfrm>
            <a:off x="4754880" y="2286000"/>
            <a:ext cx="3931920" cy="292608"/>
          </a:xfrm>
          <a:prstGeom prst="rect">
            <a:avLst/>
          </a:prstGeom>
          <a:noFill/>
          <a:ln/>
        </p:spPr>
        <p:txBody>
          <a:bodyPr wrap="square"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Feature Pyramid Network (FPN)</a:t>
            </a:r>
            <a:endParaRPr lang="en-US" sz="1400" dirty="0"/>
          </a:p>
        </p:txBody>
      </p:sp>
      <p:sp>
        <p:nvSpPr>
          <p:cNvPr id="23" name="Text 21"/>
          <p:cNvSpPr/>
          <p:nvPr/>
        </p:nvSpPr>
        <p:spPr>
          <a:xfrm>
            <a:off x="4754880" y="2606040"/>
            <a:ext cx="3931920" cy="18288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Fuses features from multiple backbone stages (F1 to FL)</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Lateral connections + element-wise addition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Detects tiny microaneurysms (few px) AND large hemorrhages simultaneously</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Upsamples deep semantic maps with shallow spatial detail</a:t>
            </a:r>
            <a:endParaRPr lang="en-US" sz="1300" dirty="0"/>
          </a:p>
        </p:txBody>
      </p:sp>
      <p:sp>
        <p:nvSpPr>
          <p:cNvPr id="24" name="Shape 22"/>
          <p:cNvSpPr/>
          <p:nvPr/>
        </p:nvSpPr>
        <p:spPr>
          <a:xfrm>
            <a:off x="457200" y="4480560"/>
            <a:ext cx="8229600" cy="502920"/>
          </a:xfrm>
          <a:prstGeom prst="rect">
            <a:avLst/>
          </a:prstGeom>
          <a:solidFill>
            <a:srgbClr val="EDF7FF"/>
          </a:solidFill>
          <a:ln w="12700">
            <a:solidFill>
              <a:srgbClr val="0D7A8A"/>
            </a:solidFill>
            <a:prstDash val="solid"/>
          </a:ln>
        </p:spPr>
      </p:sp>
      <p:sp>
        <p:nvSpPr>
          <p:cNvPr id="25" name="Text 23"/>
          <p:cNvSpPr/>
          <p:nvPr/>
        </p:nvSpPr>
        <p:spPr>
          <a:xfrm>
            <a:off x="548640" y="4526280"/>
            <a:ext cx="8046720" cy="411480"/>
          </a:xfrm>
          <a:prstGeom prst="rect">
            <a:avLst/>
          </a:prstGeom>
          <a:noFill/>
          <a:ln/>
        </p:spPr>
        <p:txBody>
          <a:bodyPr wrap="square" rtlCol="0" anchor="ctr"/>
          <a:lstStyle/>
          <a:p>
            <a:pPr marL="0" indent="0" algn="ctr">
              <a:buNone/>
            </a:pPr>
            <a:r>
              <a:rPr lang="en-US" sz="1300" i="1" dirty="0">
                <a:solidFill>
                  <a:srgbClr val="0D7A8A"/>
                </a:solidFill>
                <a:latin typeface="Calibri" pitchFamily="34" charset="0"/>
                <a:ea typeface="Calibri" pitchFamily="34" charset="-122"/>
                <a:cs typeface="Calibri" pitchFamily="34" charset="-120"/>
              </a:rPr>
              <a:t>f_cnn = GAP( Fuse(F₁, F₂, ..., F_L) )     where {F₁...F_L} = Φ_cnn(X)</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GNN Branch: Structural Topology Reasoning</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Text 3"/>
          <p:cNvSpPr/>
          <p:nvPr/>
        </p:nvSpPr>
        <p:spPr>
          <a:xfrm>
            <a:off x="457200" y="960120"/>
            <a:ext cx="8229600" cy="320040"/>
          </a:xfrm>
          <a:prstGeom prst="rect">
            <a:avLst/>
          </a:prstGeom>
          <a:noFill/>
          <a:ln/>
        </p:spPr>
        <p:txBody>
          <a:bodyPr wrap="square" rtlCol="0" anchor="ctr"/>
          <a:lstStyle/>
          <a:p>
            <a:pPr marL="0" indent="0">
              <a:buNone/>
            </a:pPr>
            <a:r>
              <a:rPr lang="en-US" sz="1400" b="1" dirty="0">
                <a:solidFill>
                  <a:srgbClr val="8E44AD"/>
                </a:solidFill>
                <a:latin typeface="Calibri" pitchFamily="34" charset="0"/>
                <a:ea typeface="Calibri" pitchFamily="34" charset="-122"/>
                <a:cs typeface="Calibri" pitchFamily="34" charset="-120"/>
              </a:rPr>
              <a:t>Multi-Layer Graph Attention Network (GAT)</a:t>
            </a:r>
            <a:endParaRPr lang="en-US" sz="1400" dirty="0"/>
          </a:p>
        </p:txBody>
      </p:sp>
      <p:sp>
        <p:nvSpPr>
          <p:cNvPr id="6" name="Shape 4"/>
          <p:cNvSpPr/>
          <p:nvPr/>
        </p:nvSpPr>
        <p:spPr>
          <a:xfrm>
            <a:off x="228600" y="1371600"/>
            <a:ext cx="1298448" cy="713232"/>
          </a:xfrm>
          <a:prstGeom prst="rect">
            <a:avLst/>
          </a:prstGeom>
          <a:solidFill>
            <a:srgbClr val="0A2540"/>
          </a:solidFill>
          <a:ln w="12700">
            <a:solidFill>
              <a:srgbClr val="0A2540"/>
            </a:solidFill>
            <a:prstDash val="solid"/>
          </a:ln>
          <a:effectLst>
            <a:outerShdw blurRad="63500" dist="25400" dir="8100000" algn="bl" rotWithShape="0">
              <a:srgbClr val="000000">
                <a:alpha val="12000"/>
              </a:srgbClr>
            </a:outerShdw>
          </a:effectLst>
        </p:spPr>
      </p:sp>
      <p:sp>
        <p:nvSpPr>
          <p:cNvPr id="7" name="Text 5"/>
          <p:cNvSpPr/>
          <p:nvPr/>
        </p:nvSpPr>
        <p:spPr>
          <a:xfrm>
            <a:off x="228600" y="1389888"/>
            <a:ext cx="1298448" cy="67665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Vessel</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Graph G=(V,E)</a:t>
            </a:r>
            <a:endParaRPr lang="en-US" sz="950" dirty="0"/>
          </a:p>
        </p:txBody>
      </p:sp>
      <p:sp>
        <p:nvSpPr>
          <p:cNvPr id="8" name="Shape 6"/>
          <p:cNvSpPr/>
          <p:nvPr/>
        </p:nvSpPr>
        <p:spPr>
          <a:xfrm>
            <a:off x="1536192" y="1728216"/>
            <a:ext cx="146304" cy="0"/>
          </a:xfrm>
          <a:prstGeom prst="line">
            <a:avLst/>
          </a:prstGeom>
          <a:noFill/>
          <a:ln w="19050">
            <a:solidFill>
              <a:srgbClr val="64748B"/>
            </a:solidFill>
            <a:prstDash val="solid"/>
          </a:ln>
        </p:spPr>
      </p:sp>
      <p:sp>
        <p:nvSpPr>
          <p:cNvPr id="9" name="Shape 7"/>
          <p:cNvSpPr/>
          <p:nvPr/>
        </p:nvSpPr>
        <p:spPr>
          <a:xfrm>
            <a:off x="1691640" y="1371600"/>
            <a:ext cx="1298448" cy="713232"/>
          </a:xfrm>
          <a:prstGeom prst="rect">
            <a:avLst/>
          </a:prstGeom>
          <a:solidFill>
            <a:srgbClr val="8E44AD"/>
          </a:solidFill>
          <a:ln w="12700">
            <a:solidFill>
              <a:srgbClr val="8E44AD"/>
            </a:solidFill>
            <a:prstDash val="solid"/>
          </a:ln>
          <a:effectLst>
            <a:outerShdw blurRad="63500" dist="25400" dir="8100000" algn="bl" rotWithShape="0">
              <a:srgbClr val="000000">
                <a:alpha val="12000"/>
              </a:srgbClr>
            </a:outerShdw>
          </a:effectLst>
        </p:spPr>
      </p:sp>
      <p:sp>
        <p:nvSpPr>
          <p:cNvPr id="10" name="Text 8"/>
          <p:cNvSpPr/>
          <p:nvPr/>
        </p:nvSpPr>
        <p:spPr>
          <a:xfrm>
            <a:off x="1691640" y="1389888"/>
            <a:ext cx="1298448" cy="67665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Node Feature</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Embedding</a:t>
            </a:r>
            <a:endParaRPr lang="en-US" sz="950" dirty="0"/>
          </a:p>
        </p:txBody>
      </p:sp>
      <p:sp>
        <p:nvSpPr>
          <p:cNvPr id="11" name="Shape 9"/>
          <p:cNvSpPr/>
          <p:nvPr/>
        </p:nvSpPr>
        <p:spPr>
          <a:xfrm>
            <a:off x="2999232" y="1728216"/>
            <a:ext cx="146304" cy="0"/>
          </a:xfrm>
          <a:prstGeom prst="line">
            <a:avLst/>
          </a:prstGeom>
          <a:noFill/>
          <a:ln w="19050">
            <a:solidFill>
              <a:srgbClr val="64748B"/>
            </a:solidFill>
            <a:prstDash val="solid"/>
          </a:ln>
        </p:spPr>
      </p:sp>
      <p:sp>
        <p:nvSpPr>
          <p:cNvPr id="12" name="Shape 10"/>
          <p:cNvSpPr/>
          <p:nvPr/>
        </p:nvSpPr>
        <p:spPr>
          <a:xfrm>
            <a:off x="3154680" y="1371600"/>
            <a:ext cx="1298448" cy="713232"/>
          </a:xfrm>
          <a:prstGeom prst="rect">
            <a:avLst/>
          </a:prstGeom>
          <a:solidFill>
            <a:srgbClr val="8E44AD"/>
          </a:solidFill>
          <a:ln w="12700">
            <a:solidFill>
              <a:srgbClr val="8E44AD"/>
            </a:solidFill>
            <a:prstDash val="solid"/>
          </a:ln>
          <a:effectLst>
            <a:outerShdw blurRad="63500" dist="25400" dir="8100000" algn="bl" rotWithShape="0">
              <a:srgbClr val="000000">
                <a:alpha val="12000"/>
              </a:srgbClr>
            </a:outerShdw>
          </a:effectLst>
        </p:spPr>
      </p:sp>
      <p:sp>
        <p:nvSpPr>
          <p:cNvPr id="13" name="Text 11"/>
          <p:cNvSpPr/>
          <p:nvPr/>
        </p:nvSpPr>
        <p:spPr>
          <a:xfrm>
            <a:off x="3154680" y="1389888"/>
            <a:ext cx="1298448" cy="67665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GAT Layer 1</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Message Passing</a:t>
            </a:r>
            <a:endParaRPr lang="en-US" sz="950" dirty="0"/>
          </a:p>
        </p:txBody>
      </p:sp>
      <p:sp>
        <p:nvSpPr>
          <p:cNvPr id="14" name="Shape 12"/>
          <p:cNvSpPr/>
          <p:nvPr/>
        </p:nvSpPr>
        <p:spPr>
          <a:xfrm>
            <a:off x="4462272" y="1728216"/>
            <a:ext cx="146304" cy="0"/>
          </a:xfrm>
          <a:prstGeom prst="line">
            <a:avLst/>
          </a:prstGeom>
          <a:noFill/>
          <a:ln w="19050">
            <a:solidFill>
              <a:srgbClr val="64748B"/>
            </a:solidFill>
            <a:prstDash val="solid"/>
          </a:ln>
        </p:spPr>
      </p:sp>
      <p:sp>
        <p:nvSpPr>
          <p:cNvPr id="15" name="Shape 13"/>
          <p:cNvSpPr/>
          <p:nvPr/>
        </p:nvSpPr>
        <p:spPr>
          <a:xfrm>
            <a:off x="4617720" y="1371600"/>
            <a:ext cx="1298448" cy="713232"/>
          </a:xfrm>
          <a:prstGeom prst="rect">
            <a:avLst/>
          </a:prstGeom>
          <a:solidFill>
            <a:srgbClr val="8E44AD"/>
          </a:solidFill>
          <a:ln w="12700">
            <a:solidFill>
              <a:srgbClr val="8E44AD"/>
            </a:solidFill>
            <a:prstDash val="solid"/>
          </a:ln>
          <a:effectLst>
            <a:outerShdw blurRad="63500" dist="25400" dir="8100000" algn="bl" rotWithShape="0">
              <a:srgbClr val="000000">
                <a:alpha val="12000"/>
              </a:srgbClr>
            </a:outerShdw>
          </a:effectLst>
        </p:spPr>
      </p:sp>
      <p:sp>
        <p:nvSpPr>
          <p:cNvPr id="16" name="Text 14"/>
          <p:cNvSpPr/>
          <p:nvPr/>
        </p:nvSpPr>
        <p:spPr>
          <a:xfrm>
            <a:off x="4617720" y="1389888"/>
            <a:ext cx="1298448" cy="67665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GAT Layer 2</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Multi-Head Attn</a:t>
            </a:r>
            <a:endParaRPr lang="en-US" sz="950" dirty="0"/>
          </a:p>
        </p:txBody>
      </p:sp>
      <p:sp>
        <p:nvSpPr>
          <p:cNvPr id="17" name="Shape 15"/>
          <p:cNvSpPr/>
          <p:nvPr/>
        </p:nvSpPr>
        <p:spPr>
          <a:xfrm>
            <a:off x="5925312" y="1728216"/>
            <a:ext cx="146304" cy="0"/>
          </a:xfrm>
          <a:prstGeom prst="line">
            <a:avLst/>
          </a:prstGeom>
          <a:noFill/>
          <a:ln w="19050">
            <a:solidFill>
              <a:srgbClr val="64748B"/>
            </a:solidFill>
            <a:prstDash val="solid"/>
          </a:ln>
        </p:spPr>
      </p:sp>
      <p:sp>
        <p:nvSpPr>
          <p:cNvPr id="18" name="Shape 16"/>
          <p:cNvSpPr/>
          <p:nvPr/>
        </p:nvSpPr>
        <p:spPr>
          <a:xfrm>
            <a:off x="6080760" y="1371600"/>
            <a:ext cx="1298448" cy="713232"/>
          </a:xfrm>
          <a:prstGeom prst="rect">
            <a:avLst/>
          </a:prstGeom>
          <a:solidFill>
            <a:srgbClr val="E67E22"/>
          </a:solidFill>
          <a:ln w="12700">
            <a:solidFill>
              <a:srgbClr val="E67E22"/>
            </a:solidFill>
            <a:prstDash val="solid"/>
          </a:ln>
          <a:effectLst>
            <a:outerShdw blurRad="63500" dist="25400" dir="8100000" algn="bl" rotWithShape="0">
              <a:srgbClr val="000000">
                <a:alpha val="12000"/>
              </a:srgbClr>
            </a:outerShdw>
          </a:effectLst>
        </p:spPr>
      </p:sp>
      <p:sp>
        <p:nvSpPr>
          <p:cNvPr id="19" name="Text 17"/>
          <p:cNvSpPr/>
          <p:nvPr/>
        </p:nvSpPr>
        <p:spPr>
          <a:xfrm>
            <a:off x="6080760" y="1389888"/>
            <a:ext cx="1298448" cy="67665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Global Graph</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Pooling</a:t>
            </a:r>
            <a:endParaRPr lang="en-US" sz="950" dirty="0"/>
          </a:p>
        </p:txBody>
      </p:sp>
      <p:sp>
        <p:nvSpPr>
          <p:cNvPr id="20" name="Shape 18"/>
          <p:cNvSpPr/>
          <p:nvPr/>
        </p:nvSpPr>
        <p:spPr>
          <a:xfrm>
            <a:off x="7388352" y="1728216"/>
            <a:ext cx="146304" cy="0"/>
          </a:xfrm>
          <a:prstGeom prst="line">
            <a:avLst/>
          </a:prstGeom>
          <a:noFill/>
          <a:ln w="19050">
            <a:solidFill>
              <a:srgbClr val="64748B"/>
            </a:solidFill>
            <a:prstDash val="solid"/>
          </a:ln>
        </p:spPr>
      </p:sp>
      <p:sp>
        <p:nvSpPr>
          <p:cNvPr id="21" name="Shape 19"/>
          <p:cNvSpPr/>
          <p:nvPr/>
        </p:nvSpPr>
        <p:spPr>
          <a:xfrm>
            <a:off x="7543800" y="1371600"/>
            <a:ext cx="1298448" cy="713232"/>
          </a:xfrm>
          <a:prstGeom prst="rect">
            <a:avLst/>
          </a:prstGeom>
          <a:solidFill>
            <a:srgbClr val="02C39A"/>
          </a:solidFill>
          <a:ln w="12700">
            <a:solidFill>
              <a:srgbClr val="02C39A"/>
            </a:solidFill>
            <a:prstDash val="solid"/>
          </a:ln>
          <a:effectLst>
            <a:outerShdw blurRad="63500" dist="25400" dir="8100000" algn="bl" rotWithShape="0">
              <a:srgbClr val="000000">
                <a:alpha val="12000"/>
              </a:srgbClr>
            </a:outerShdw>
          </a:effectLst>
        </p:spPr>
      </p:sp>
      <p:sp>
        <p:nvSpPr>
          <p:cNvPr id="22" name="Text 20"/>
          <p:cNvSpPr/>
          <p:nvPr/>
        </p:nvSpPr>
        <p:spPr>
          <a:xfrm>
            <a:off x="7543800" y="1389888"/>
            <a:ext cx="1298448" cy="67665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fgnn</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(512-d)</a:t>
            </a:r>
            <a:endParaRPr lang="en-US" sz="950" dirty="0"/>
          </a:p>
        </p:txBody>
      </p:sp>
      <p:sp>
        <p:nvSpPr>
          <p:cNvPr id="23" name="Text 21"/>
          <p:cNvSpPr/>
          <p:nvPr/>
        </p:nvSpPr>
        <p:spPr>
          <a:xfrm>
            <a:off x="457200" y="2240280"/>
            <a:ext cx="4114800" cy="292608"/>
          </a:xfrm>
          <a:prstGeom prst="rect">
            <a:avLst/>
          </a:prstGeom>
          <a:noFill/>
          <a:ln/>
        </p:spPr>
        <p:txBody>
          <a:bodyPr wrap="square" rtlCol="0" anchor="ctr"/>
          <a:lstStyle/>
          <a:p>
            <a:pPr marL="0" indent="0">
              <a:buNone/>
            </a:pPr>
            <a:r>
              <a:rPr lang="en-US" sz="1400" b="1" dirty="0">
                <a:solidFill>
                  <a:srgbClr val="8E44AD"/>
                </a:solidFill>
                <a:latin typeface="Calibri" pitchFamily="34" charset="0"/>
                <a:ea typeface="Calibri" pitchFamily="34" charset="-122"/>
                <a:cs typeface="Calibri" pitchFamily="34" charset="-120"/>
              </a:rPr>
              <a:t>Graph Attention Mechanism</a:t>
            </a:r>
            <a:endParaRPr lang="en-US" sz="1400" dirty="0"/>
          </a:p>
        </p:txBody>
      </p:sp>
      <p:sp>
        <p:nvSpPr>
          <p:cNvPr id="24" name="Shape 22"/>
          <p:cNvSpPr/>
          <p:nvPr/>
        </p:nvSpPr>
        <p:spPr>
          <a:xfrm>
            <a:off x="457200" y="2578608"/>
            <a:ext cx="4023360" cy="365760"/>
          </a:xfrm>
          <a:prstGeom prst="rect">
            <a:avLst/>
          </a:prstGeom>
          <a:solidFill>
            <a:srgbClr val="F5F0FA"/>
          </a:solidFill>
          <a:ln w="6350">
            <a:solidFill>
              <a:srgbClr val="D8C8F0"/>
            </a:solidFill>
            <a:prstDash val="solid"/>
          </a:ln>
        </p:spPr>
      </p:sp>
      <p:sp>
        <p:nvSpPr>
          <p:cNvPr id="25" name="Text 23"/>
          <p:cNvSpPr/>
          <p:nvPr/>
        </p:nvSpPr>
        <p:spPr>
          <a:xfrm>
            <a:off x="548640" y="2606040"/>
            <a:ext cx="3840480" cy="310896"/>
          </a:xfrm>
          <a:prstGeom prst="rect">
            <a:avLst/>
          </a:prstGeom>
          <a:noFill/>
          <a:ln/>
        </p:spPr>
        <p:txBody>
          <a:bodyPr wrap="square" lIns="0" tIns="0" rIns="0" bIns="0" rtlCol="0" anchor="ctr"/>
          <a:lstStyle/>
          <a:p>
            <a:pPr marL="0" indent="0">
              <a:buNone/>
            </a:pPr>
            <a:r>
              <a:rPr lang="en-US" sz="1000" i="1" dirty="0">
                <a:solidFill>
                  <a:srgbClr val="5B2D8E"/>
                </a:solidFill>
                <a:latin typeface="Calibri" pitchFamily="34" charset="0"/>
                <a:ea typeface="Calibri" pitchFamily="34" charset="-122"/>
                <a:cs typeface="Calibri" pitchFamily="34" charset="-120"/>
              </a:rPr>
              <a:t>Attention score:  e_ij = LeakyReLU( aᵀ[Wh_i ‖ Wh_j] )</a:t>
            </a:r>
            <a:endParaRPr lang="en-US" sz="1000" dirty="0"/>
          </a:p>
        </p:txBody>
      </p:sp>
      <p:sp>
        <p:nvSpPr>
          <p:cNvPr id="26" name="Shape 24"/>
          <p:cNvSpPr/>
          <p:nvPr/>
        </p:nvSpPr>
        <p:spPr>
          <a:xfrm>
            <a:off x="457200" y="2999232"/>
            <a:ext cx="4023360" cy="365760"/>
          </a:xfrm>
          <a:prstGeom prst="rect">
            <a:avLst/>
          </a:prstGeom>
          <a:solidFill>
            <a:srgbClr val="F5F0FA"/>
          </a:solidFill>
          <a:ln w="6350">
            <a:solidFill>
              <a:srgbClr val="D8C8F0"/>
            </a:solidFill>
            <a:prstDash val="solid"/>
          </a:ln>
        </p:spPr>
      </p:sp>
      <p:sp>
        <p:nvSpPr>
          <p:cNvPr id="27" name="Text 25"/>
          <p:cNvSpPr/>
          <p:nvPr/>
        </p:nvSpPr>
        <p:spPr>
          <a:xfrm>
            <a:off x="548640" y="3026664"/>
            <a:ext cx="3840480" cy="310896"/>
          </a:xfrm>
          <a:prstGeom prst="rect">
            <a:avLst/>
          </a:prstGeom>
          <a:noFill/>
          <a:ln/>
        </p:spPr>
        <p:txBody>
          <a:bodyPr wrap="square" lIns="0" tIns="0" rIns="0" bIns="0" rtlCol="0" anchor="ctr"/>
          <a:lstStyle/>
          <a:p>
            <a:pPr marL="0" indent="0">
              <a:buNone/>
            </a:pPr>
            <a:r>
              <a:rPr lang="en-US" sz="1000" i="1" dirty="0">
                <a:solidFill>
                  <a:srgbClr val="5B2D8E"/>
                </a:solidFill>
                <a:latin typeface="Calibri" pitchFamily="34" charset="0"/>
                <a:ea typeface="Calibri" pitchFamily="34" charset="-122"/>
                <a:cs typeface="Calibri" pitchFamily="34" charset="-120"/>
              </a:rPr>
              <a:t>Normalization:  α_ij = softmax over neighbors of i</a:t>
            </a:r>
            <a:endParaRPr lang="en-US" sz="1000" dirty="0"/>
          </a:p>
        </p:txBody>
      </p:sp>
      <p:sp>
        <p:nvSpPr>
          <p:cNvPr id="28" name="Shape 26"/>
          <p:cNvSpPr/>
          <p:nvPr/>
        </p:nvSpPr>
        <p:spPr>
          <a:xfrm>
            <a:off x="457200" y="3419856"/>
            <a:ext cx="4023360" cy="365760"/>
          </a:xfrm>
          <a:prstGeom prst="rect">
            <a:avLst/>
          </a:prstGeom>
          <a:solidFill>
            <a:srgbClr val="F5F0FA"/>
          </a:solidFill>
          <a:ln w="6350">
            <a:solidFill>
              <a:srgbClr val="D8C8F0"/>
            </a:solidFill>
            <a:prstDash val="solid"/>
          </a:ln>
        </p:spPr>
      </p:sp>
      <p:sp>
        <p:nvSpPr>
          <p:cNvPr id="29" name="Text 27"/>
          <p:cNvSpPr/>
          <p:nvPr/>
        </p:nvSpPr>
        <p:spPr>
          <a:xfrm>
            <a:off x="548640" y="3447288"/>
            <a:ext cx="3840480" cy="310896"/>
          </a:xfrm>
          <a:prstGeom prst="rect">
            <a:avLst/>
          </a:prstGeom>
          <a:noFill/>
          <a:ln/>
        </p:spPr>
        <p:txBody>
          <a:bodyPr wrap="square" lIns="0" tIns="0" rIns="0" bIns="0" rtlCol="0" anchor="ctr"/>
          <a:lstStyle/>
          <a:p>
            <a:pPr marL="0" indent="0">
              <a:buNone/>
            </a:pPr>
            <a:r>
              <a:rPr lang="en-US" sz="1000" i="1" dirty="0">
                <a:solidFill>
                  <a:srgbClr val="5B2D8E"/>
                </a:solidFill>
                <a:latin typeface="Calibri" pitchFamily="34" charset="0"/>
                <a:ea typeface="Calibri" pitchFamily="34" charset="-122"/>
                <a:cs typeface="Calibri" pitchFamily="34" charset="-120"/>
              </a:rPr>
              <a:t>Updated node:  h'_i = σ( Σ α_ij · W·h_j )</a:t>
            </a:r>
            <a:endParaRPr lang="en-US" sz="1000" dirty="0"/>
          </a:p>
        </p:txBody>
      </p:sp>
      <p:sp>
        <p:nvSpPr>
          <p:cNvPr id="30" name="Shape 28"/>
          <p:cNvSpPr/>
          <p:nvPr/>
        </p:nvSpPr>
        <p:spPr>
          <a:xfrm>
            <a:off x="457200" y="3840480"/>
            <a:ext cx="4023360" cy="365760"/>
          </a:xfrm>
          <a:prstGeom prst="rect">
            <a:avLst/>
          </a:prstGeom>
          <a:solidFill>
            <a:srgbClr val="F5F0FA"/>
          </a:solidFill>
          <a:ln w="6350">
            <a:solidFill>
              <a:srgbClr val="D8C8F0"/>
            </a:solidFill>
            <a:prstDash val="solid"/>
          </a:ln>
        </p:spPr>
      </p:sp>
      <p:sp>
        <p:nvSpPr>
          <p:cNvPr id="31" name="Text 29"/>
          <p:cNvSpPr/>
          <p:nvPr/>
        </p:nvSpPr>
        <p:spPr>
          <a:xfrm>
            <a:off x="548640" y="3867912"/>
            <a:ext cx="3840480" cy="310896"/>
          </a:xfrm>
          <a:prstGeom prst="rect">
            <a:avLst/>
          </a:prstGeom>
          <a:noFill/>
          <a:ln/>
        </p:spPr>
        <p:txBody>
          <a:bodyPr wrap="square" lIns="0" tIns="0" rIns="0" bIns="0" rtlCol="0" anchor="ctr"/>
          <a:lstStyle/>
          <a:p>
            <a:pPr marL="0" indent="0">
              <a:buNone/>
            </a:pPr>
            <a:r>
              <a:rPr lang="en-US" sz="1000" i="1" dirty="0">
                <a:solidFill>
                  <a:srgbClr val="5B2D8E"/>
                </a:solidFill>
                <a:latin typeface="Calibri" pitchFamily="34" charset="0"/>
                <a:ea typeface="Calibri" pitchFamily="34" charset="-122"/>
                <a:cs typeface="Calibri" pitchFamily="34" charset="-120"/>
              </a:rPr>
              <a:t>Multi-head:  h'_i = concat of M independent heads</a:t>
            </a:r>
            <a:endParaRPr lang="en-US" sz="1000" dirty="0"/>
          </a:p>
        </p:txBody>
      </p:sp>
      <p:sp>
        <p:nvSpPr>
          <p:cNvPr id="32" name="Shape 30"/>
          <p:cNvSpPr/>
          <p:nvPr/>
        </p:nvSpPr>
        <p:spPr>
          <a:xfrm>
            <a:off x="457200" y="4261104"/>
            <a:ext cx="4023360" cy="365760"/>
          </a:xfrm>
          <a:prstGeom prst="rect">
            <a:avLst/>
          </a:prstGeom>
          <a:solidFill>
            <a:srgbClr val="F5F0FA"/>
          </a:solidFill>
          <a:ln w="6350">
            <a:solidFill>
              <a:srgbClr val="D8C8F0"/>
            </a:solidFill>
            <a:prstDash val="solid"/>
          </a:ln>
        </p:spPr>
      </p:sp>
      <p:sp>
        <p:nvSpPr>
          <p:cNvPr id="33" name="Text 31"/>
          <p:cNvSpPr/>
          <p:nvPr/>
        </p:nvSpPr>
        <p:spPr>
          <a:xfrm>
            <a:off x="548640" y="4288536"/>
            <a:ext cx="3840480" cy="310896"/>
          </a:xfrm>
          <a:prstGeom prst="rect">
            <a:avLst/>
          </a:prstGeom>
          <a:noFill/>
          <a:ln/>
        </p:spPr>
        <p:txBody>
          <a:bodyPr wrap="square" lIns="0" tIns="0" rIns="0" bIns="0" rtlCol="0" anchor="ctr"/>
          <a:lstStyle/>
          <a:p>
            <a:pPr marL="0" indent="0">
              <a:buNone/>
            </a:pPr>
            <a:r>
              <a:rPr lang="en-US" sz="1000" i="1" dirty="0">
                <a:solidFill>
                  <a:srgbClr val="5B2D8E"/>
                </a:solidFill>
                <a:latin typeface="Calibri" pitchFamily="34" charset="0"/>
                <a:ea typeface="Calibri" pitchFamily="34" charset="-122"/>
                <a:cs typeface="Calibri" pitchFamily="34" charset="-120"/>
              </a:rPr>
              <a:t>Graph readout:  fgnn = Pool({h'₁, h'₂, ..., h'_n})</a:t>
            </a:r>
            <a:endParaRPr lang="en-US" sz="1000" dirty="0"/>
          </a:p>
        </p:txBody>
      </p:sp>
      <p:sp>
        <p:nvSpPr>
          <p:cNvPr id="34" name="Text 32"/>
          <p:cNvSpPr/>
          <p:nvPr/>
        </p:nvSpPr>
        <p:spPr>
          <a:xfrm>
            <a:off x="4754880" y="2240280"/>
            <a:ext cx="3931920" cy="292608"/>
          </a:xfrm>
          <a:prstGeom prst="rect">
            <a:avLst/>
          </a:prstGeom>
          <a:noFill/>
          <a:ln/>
        </p:spPr>
        <p:txBody>
          <a:bodyPr wrap="square" rtlCol="0" anchor="ctr"/>
          <a:lstStyle/>
          <a:p>
            <a:pPr marL="0" indent="0">
              <a:buNone/>
            </a:pPr>
            <a:r>
              <a:rPr lang="en-US" sz="1400" b="1" dirty="0">
                <a:solidFill>
                  <a:srgbClr val="8E44AD"/>
                </a:solidFill>
                <a:latin typeface="Calibri" pitchFamily="34" charset="0"/>
                <a:ea typeface="Calibri" pitchFamily="34" charset="-122"/>
                <a:cs typeface="Calibri" pitchFamily="34" charset="-120"/>
              </a:rPr>
              <a:t>Why Graph Attention Networks?</a:t>
            </a:r>
            <a:endParaRPr lang="en-US" sz="1400" dirty="0"/>
          </a:p>
        </p:txBody>
      </p:sp>
      <p:sp>
        <p:nvSpPr>
          <p:cNvPr id="35" name="Text 33"/>
          <p:cNvSpPr/>
          <p:nvPr/>
        </p:nvSpPr>
        <p:spPr>
          <a:xfrm>
            <a:off x="4754880" y="2578608"/>
            <a:ext cx="3931920" cy="228600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Adaptive neighbor weighting — focuses on clinically relevant junctions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Different heads capture: dense branching, elongated chains, peripheral connectivity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Propagates info through anatomically meaningful vessel pathways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Robust to local intensity variations (topology-based, not appearance-based)</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Captures loop formation &amp; capillary dropout — hallmarks of advanced DR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Transformer Branch: Global Context Modeling</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228600" y="960120"/>
            <a:ext cx="1298448" cy="777240"/>
          </a:xfrm>
          <a:prstGeom prst="rect">
            <a:avLst/>
          </a:prstGeom>
          <a:solidFill>
            <a:srgbClr val="0A2540"/>
          </a:solidFill>
          <a:ln w="12700">
            <a:solidFill>
              <a:srgbClr val="0A2540"/>
            </a:solidFill>
            <a:prstDash val="solid"/>
          </a:ln>
          <a:effectLst>
            <a:outerShdw blurRad="63500" dist="25400" dir="8100000" algn="bl" rotWithShape="0">
              <a:srgbClr val="000000">
                <a:alpha val="12000"/>
              </a:srgbClr>
            </a:outerShdw>
          </a:effectLst>
        </p:spPr>
      </p:sp>
      <p:sp>
        <p:nvSpPr>
          <p:cNvPr id="6" name="Text 4"/>
          <p:cNvSpPr/>
          <p:nvPr/>
        </p:nvSpPr>
        <p:spPr>
          <a:xfrm>
            <a:off x="228600" y="978408"/>
            <a:ext cx="1298448" cy="74066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512×512</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Image</a:t>
            </a:r>
            <a:endParaRPr lang="en-US" sz="900" dirty="0"/>
          </a:p>
        </p:txBody>
      </p:sp>
      <p:sp>
        <p:nvSpPr>
          <p:cNvPr id="7" name="Shape 5"/>
          <p:cNvSpPr/>
          <p:nvPr/>
        </p:nvSpPr>
        <p:spPr>
          <a:xfrm>
            <a:off x="1536192" y="1344168"/>
            <a:ext cx="146304" cy="0"/>
          </a:xfrm>
          <a:prstGeom prst="line">
            <a:avLst/>
          </a:prstGeom>
          <a:noFill/>
          <a:ln w="19050">
            <a:solidFill>
              <a:srgbClr val="64748B"/>
            </a:solidFill>
            <a:prstDash val="solid"/>
          </a:ln>
        </p:spPr>
      </p:sp>
      <p:sp>
        <p:nvSpPr>
          <p:cNvPr id="8" name="Shape 6"/>
          <p:cNvSpPr/>
          <p:nvPr/>
        </p:nvSpPr>
        <p:spPr>
          <a:xfrm>
            <a:off x="1691640" y="960120"/>
            <a:ext cx="1298448" cy="777240"/>
          </a:xfrm>
          <a:prstGeom prst="rect">
            <a:avLst/>
          </a:prstGeom>
          <a:solidFill>
            <a:srgbClr val="E67E22"/>
          </a:solidFill>
          <a:ln w="12700">
            <a:solidFill>
              <a:srgbClr val="E67E22"/>
            </a:solidFill>
            <a:prstDash val="solid"/>
          </a:ln>
          <a:effectLst>
            <a:outerShdw blurRad="63500" dist="25400" dir="8100000" algn="bl" rotWithShape="0">
              <a:srgbClr val="000000">
                <a:alpha val="12000"/>
              </a:srgbClr>
            </a:outerShdw>
          </a:effectLst>
        </p:spPr>
      </p:sp>
      <p:sp>
        <p:nvSpPr>
          <p:cNvPr id="9" name="Text 7"/>
          <p:cNvSpPr/>
          <p:nvPr/>
        </p:nvSpPr>
        <p:spPr>
          <a:xfrm>
            <a:off x="1691640" y="978408"/>
            <a:ext cx="1298448" cy="74066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Patch</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Embedding</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(P×P tokens)</a:t>
            </a:r>
            <a:endParaRPr lang="en-US" sz="900" dirty="0"/>
          </a:p>
        </p:txBody>
      </p:sp>
      <p:sp>
        <p:nvSpPr>
          <p:cNvPr id="10" name="Shape 8"/>
          <p:cNvSpPr/>
          <p:nvPr/>
        </p:nvSpPr>
        <p:spPr>
          <a:xfrm>
            <a:off x="2999232" y="1344168"/>
            <a:ext cx="146304" cy="0"/>
          </a:xfrm>
          <a:prstGeom prst="line">
            <a:avLst/>
          </a:prstGeom>
          <a:noFill/>
          <a:ln w="19050">
            <a:solidFill>
              <a:srgbClr val="64748B"/>
            </a:solidFill>
            <a:prstDash val="solid"/>
          </a:ln>
        </p:spPr>
      </p:sp>
      <p:sp>
        <p:nvSpPr>
          <p:cNvPr id="11" name="Shape 9"/>
          <p:cNvSpPr/>
          <p:nvPr/>
        </p:nvSpPr>
        <p:spPr>
          <a:xfrm>
            <a:off x="3154680" y="960120"/>
            <a:ext cx="1298448" cy="777240"/>
          </a:xfrm>
          <a:prstGeom prst="rect">
            <a:avLst/>
          </a:prstGeom>
          <a:solidFill>
            <a:srgbClr val="E67E22"/>
          </a:solidFill>
          <a:ln w="12700">
            <a:solidFill>
              <a:srgbClr val="E67E22"/>
            </a:solidFill>
            <a:prstDash val="solid"/>
          </a:ln>
          <a:effectLst>
            <a:outerShdw blurRad="63500" dist="25400" dir="8100000" algn="bl" rotWithShape="0">
              <a:srgbClr val="000000">
                <a:alpha val="12000"/>
              </a:srgbClr>
            </a:outerShdw>
          </a:effectLst>
        </p:spPr>
      </p:sp>
      <p:sp>
        <p:nvSpPr>
          <p:cNvPr id="12" name="Text 10"/>
          <p:cNvSpPr/>
          <p:nvPr/>
        </p:nvSpPr>
        <p:spPr>
          <a:xfrm>
            <a:off x="3154680" y="978408"/>
            <a:ext cx="1298448" cy="74066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Positional</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Encoding</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 CLS Token</a:t>
            </a:r>
            <a:endParaRPr lang="en-US" sz="900" dirty="0"/>
          </a:p>
        </p:txBody>
      </p:sp>
      <p:sp>
        <p:nvSpPr>
          <p:cNvPr id="13" name="Shape 11"/>
          <p:cNvSpPr/>
          <p:nvPr/>
        </p:nvSpPr>
        <p:spPr>
          <a:xfrm>
            <a:off x="4462272" y="1344168"/>
            <a:ext cx="146304" cy="0"/>
          </a:xfrm>
          <a:prstGeom prst="line">
            <a:avLst/>
          </a:prstGeom>
          <a:noFill/>
          <a:ln w="19050">
            <a:solidFill>
              <a:srgbClr val="64748B"/>
            </a:solidFill>
            <a:prstDash val="solid"/>
          </a:ln>
        </p:spPr>
      </p:sp>
      <p:sp>
        <p:nvSpPr>
          <p:cNvPr id="14" name="Shape 12"/>
          <p:cNvSpPr/>
          <p:nvPr/>
        </p:nvSpPr>
        <p:spPr>
          <a:xfrm>
            <a:off x="4617720" y="960120"/>
            <a:ext cx="1298448" cy="777240"/>
          </a:xfrm>
          <a:prstGeom prst="rect">
            <a:avLst/>
          </a:prstGeom>
          <a:solidFill>
            <a:srgbClr val="E67E22"/>
          </a:solidFill>
          <a:ln w="12700">
            <a:solidFill>
              <a:srgbClr val="E67E22"/>
            </a:solidFill>
            <a:prstDash val="solid"/>
          </a:ln>
          <a:effectLst>
            <a:outerShdw blurRad="63500" dist="25400" dir="8100000" algn="bl" rotWithShape="0">
              <a:srgbClr val="000000">
                <a:alpha val="12000"/>
              </a:srgbClr>
            </a:outerShdw>
          </a:effectLst>
        </p:spPr>
      </p:sp>
      <p:sp>
        <p:nvSpPr>
          <p:cNvPr id="15" name="Text 13"/>
          <p:cNvSpPr/>
          <p:nvPr/>
        </p:nvSpPr>
        <p:spPr>
          <a:xfrm>
            <a:off x="4617720" y="978408"/>
            <a:ext cx="1298448" cy="74066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MHSA</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(Multi-Head</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Self-Attention)</a:t>
            </a:r>
            <a:endParaRPr lang="en-US" sz="900" dirty="0"/>
          </a:p>
        </p:txBody>
      </p:sp>
      <p:sp>
        <p:nvSpPr>
          <p:cNvPr id="16" name="Shape 14"/>
          <p:cNvSpPr/>
          <p:nvPr/>
        </p:nvSpPr>
        <p:spPr>
          <a:xfrm>
            <a:off x="5925312" y="1344168"/>
            <a:ext cx="146304" cy="0"/>
          </a:xfrm>
          <a:prstGeom prst="line">
            <a:avLst/>
          </a:prstGeom>
          <a:noFill/>
          <a:ln w="19050">
            <a:solidFill>
              <a:srgbClr val="64748B"/>
            </a:solidFill>
            <a:prstDash val="solid"/>
          </a:ln>
        </p:spPr>
      </p:sp>
      <p:sp>
        <p:nvSpPr>
          <p:cNvPr id="17" name="Shape 15"/>
          <p:cNvSpPr/>
          <p:nvPr/>
        </p:nvSpPr>
        <p:spPr>
          <a:xfrm>
            <a:off x="6080760" y="960120"/>
            <a:ext cx="1298448" cy="777240"/>
          </a:xfrm>
          <a:prstGeom prst="rect">
            <a:avLst/>
          </a:prstGeom>
          <a:solidFill>
            <a:srgbClr val="E67E22"/>
          </a:solidFill>
          <a:ln w="12700">
            <a:solidFill>
              <a:srgbClr val="E67E22"/>
            </a:solidFill>
            <a:prstDash val="solid"/>
          </a:ln>
          <a:effectLst>
            <a:outerShdw blurRad="63500" dist="25400" dir="8100000" algn="bl" rotWithShape="0">
              <a:srgbClr val="000000">
                <a:alpha val="12000"/>
              </a:srgbClr>
            </a:outerShdw>
          </a:effectLst>
        </p:spPr>
      </p:sp>
      <p:sp>
        <p:nvSpPr>
          <p:cNvPr id="18" name="Text 16"/>
          <p:cNvSpPr/>
          <p:nvPr/>
        </p:nvSpPr>
        <p:spPr>
          <a:xfrm>
            <a:off x="6080760" y="978408"/>
            <a:ext cx="1298448" cy="74066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Feed-Forward</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Network</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 Residual</a:t>
            </a:r>
            <a:endParaRPr lang="en-US" sz="900" dirty="0"/>
          </a:p>
        </p:txBody>
      </p:sp>
      <p:sp>
        <p:nvSpPr>
          <p:cNvPr id="19" name="Shape 17"/>
          <p:cNvSpPr/>
          <p:nvPr/>
        </p:nvSpPr>
        <p:spPr>
          <a:xfrm>
            <a:off x="7388352" y="1344168"/>
            <a:ext cx="146304" cy="0"/>
          </a:xfrm>
          <a:prstGeom prst="line">
            <a:avLst/>
          </a:prstGeom>
          <a:noFill/>
          <a:ln w="19050">
            <a:solidFill>
              <a:srgbClr val="64748B"/>
            </a:solidFill>
            <a:prstDash val="solid"/>
          </a:ln>
        </p:spPr>
      </p:sp>
      <p:sp>
        <p:nvSpPr>
          <p:cNvPr id="20" name="Shape 18"/>
          <p:cNvSpPr/>
          <p:nvPr/>
        </p:nvSpPr>
        <p:spPr>
          <a:xfrm>
            <a:off x="7543800" y="960120"/>
            <a:ext cx="1298448" cy="777240"/>
          </a:xfrm>
          <a:prstGeom prst="rect">
            <a:avLst/>
          </a:prstGeom>
          <a:solidFill>
            <a:srgbClr val="02C39A"/>
          </a:solidFill>
          <a:ln w="12700">
            <a:solidFill>
              <a:srgbClr val="02C39A"/>
            </a:solidFill>
            <a:prstDash val="solid"/>
          </a:ln>
          <a:effectLst>
            <a:outerShdw blurRad="63500" dist="25400" dir="8100000" algn="bl" rotWithShape="0">
              <a:srgbClr val="000000">
                <a:alpha val="12000"/>
              </a:srgbClr>
            </a:outerShdw>
          </a:effectLst>
        </p:spPr>
      </p:sp>
      <p:sp>
        <p:nvSpPr>
          <p:cNvPr id="21" name="Text 19"/>
          <p:cNvSpPr/>
          <p:nvPr/>
        </p:nvSpPr>
        <p:spPr>
          <a:xfrm>
            <a:off x="7543800" y="978408"/>
            <a:ext cx="1298448" cy="74066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CLS Token</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 ftr</a:t>
            </a:r>
            <a:endParaRPr lang="en-US" sz="900" dirty="0"/>
          </a:p>
        </p:txBody>
      </p:sp>
      <p:sp>
        <p:nvSpPr>
          <p:cNvPr id="22" name="Shape 20"/>
          <p:cNvSpPr/>
          <p:nvPr/>
        </p:nvSpPr>
        <p:spPr>
          <a:xfrm>
            <a:off x="457200" y="1874520"/>
            <a:ext cx="8229600" cy="384048"/>
          </a:xfrm>
          <a:prstGeom prst="rect">
            <a:avLst/>
          </a:prstGeom>
          <a:solidFill>
            <a:srgbClr val="FFF5E8"/>
          </a:solidFill>
          <a:ln w="12700">
            <a:solidFill>
              <a:srgbClr val="E67E22"/>
            </a:solidFill>
            <a:prstDash val="solid"/>
          </a:ln>
        </p:spPr>
      </p:sp>
      <p:sp>
        <p:nvSpPr>
          <p:cNvPr id="23" name="Text 21"/>
          <p:cNvSpPr/>
          <p:nvPr/>
        </p:nvSpPr>
        <p:spPr>
          <a:xfrm>
            <a:off x="548640" y="1920240"/>
            <a:ext cx="8046720" cy="310896"/>
          </a:xfrm>
          <a:prstGeom prst="rect">
            <a:avLst/>
          </a:prstGeom>
          <a:noFill/>
          <a:ln/>
        </p:spPr>
        <p:txBody>
          <a:bodyPr wrap="square" rtlCol="0" anchor="ctr"/>
          <a:lstStyle/>
          <a:p>
            <a:pPr marL="0" indent="0" algn="ctr">
              <a:buNone/>
            </a:pPr>
            <a:r>
              <a:rPr lang="en-US" sz="1200" i="1" dirty="0">
                <a:solidFill>
                  <a:srgbClr val="C05000"/>
                </a:solidFill>
                <a:latin typeface="Calibri" pitchFamily="34" charset="0"/>
                <a:ea typeface="Calibri" pitchFamily="34" charset="-122"/>
                <a:cs typeface="Calibri" pitchFamily="34" charset="-120"/>
              </a:rPr>
              <a:t>Attention(Q,K,V) = Softmax( QKᵀ / √d_k ) · V     |     ftr = z_cls^(L)  (L-th layer CLS token)</a:t>
            </a:r>
            <a:endParaRPr lang="en-US" sz="1200" dirty="0"/>
          </a:p>
        </p:txBody>
      </p:sp>
      <p:sp>
        <p:nvSpPr>
          <p:cNvPr id="24" name="Text 22"/>
          <p:cNvSpPr/>
          <p:nvPr/>
        </p:nvSpPr>
        <p:spPr>
          <a:xfrm>
            <a:off x="457200" y="2377440"/>
            <a:ext cx="4114800" cy="292608"/>
          </a:xfrm>
          <a:prstGeom prst="rect">
            <a:avLst/>
          </a:prstGeom>
          <a:noFill/>
          <a:ln/>
        </p:spPr>
        <p:txBody>
          <a:bodyPr wrap="square" rtlCol="0" anchor="ctr"/>
          <a:lstStyle/>
          <a:p>
            <a:pPr marL="0" indent="0">
              <a:buNone/>
            </a:pPr>
            <a:r>
              <a:rPr lang="en-US" sz="1400" b="1" dirty="0">
                <a:solidFill>
                  <a:srgbClr val="E67E22"/>
                </a:solidFill>
                <a:latin typeface="Calibri" pitchFamily="34" charset="0"/>
                <a:ea typeface="Calibri" pitchFamily="34" charset="-122"/>
                <a:cs typeface="Calibri" pitchFamily="34" charset="-120"/>
              </a:rPr>
              <a:t>Advantages of Global Context Modeling</a:t>
            </a:r>
            <a:endParaRPr lang="en-US" sz="1400" dirty="0"/>
          </a:p>
        </p:txBody>
      </p:sp>
      <p:sp>
        <p:nvSpPr>
          <p:cNvPr id="25" name="Text 23"/>
          <p:cNvSpPr/>
          <p:nvPr/>
        </p:nvSpPr>
        <p:spPr>
          <a:xfrm>
            <a:off x="457200" y="2697480"/>
            <a:ext cx="4114800" cy="21031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Captures non-local dependencies — lesions in multiple retinal quadrants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Models joint presence of pathological patterns across the entire image</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Adaptive attention weights focus on diagnostically relevant retinal regions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Detects widespread pathological spread indicative of advanced DR</a:t>
            </a:r>
            <a:endParaRPr lang="en-US" sz="1300" dirty="0"/>
          </a:p>
        </p:txBody>
      </p:sp>
      <p:sp>
        <p:nvSpPr>
          <p:cNvPr id="26" name="Text 24"/>
          <p:cNvSpPr/>
          <p:nvPr/>
        </p:nvSpPr>
        <p:spPr>
          <a:xfrm>
            <a:off x="4754880" y="2377440"/>
            <a:ext cx="3931920" cy="292608"/>
          </a:xfrm>
          <a:prstGeom prst="rect">
            <a:avLst/>
          </a:prstGeom>
          <a:noFill/>
          <a:ln/>
        </p:spPr>
        <p:txBody>
          <a:bodyPr wrap="square" rtlCol="0" anchor="ctr"/>
          <a:lstStyle/>
          <a:p>
            <a:pPr marL="0" indent="0">
              <a:buNone/>
            </a:pPr>
            <a:r>
              <a:rPr lang="en-US" sz="1400" b="1" dirty="0">
                <a:solidFill>
                  <a:srgbClr val="E67E22"/>
                </a:solidFill>
                <a:latin typeface="Calibri" pitchFamily="34" charset="0"/>
                <a:ea typeface="Calibri" pitchFamily="34" charset="-122"/>
                <a:cs typeface="Calibri" pitchFamily="34" charset="-120"/>
              </a:rPr>
              <a:t>Complementarity with CNN &amp; GNN</a:t>
            </a:r>
            <a:endParaRPr lang="en-US" sz="1400" dirty="0"/>
          </a:p>
        </p:txBody>
      </p:sp>
      <p:sp>
        <p:nvSpPr>
          <p:cNvPr id="27" name="Text 25"/>
          <p:cNvSpPr/>
          <p:nvPr/>
        </p:nvSpPr>
        <p:spPr>
          <a:xfrm>
            <a:off x="4754880" y="2697480"/>
            <a:ext cx="3931920" cy="210312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CNN: fine-grained local textures → WHERE are the lesions?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GNN: vessel structural topology → HOW is vasculature affected?</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Transformer: global image context → WHAT is the overall severity?</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Together: complete multimodal retinal reasoning</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√d_k scaling prevents gradient vanishing in high-dim spaces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Bidirectional Cross-Attention Bridge</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457200" y="960120"/>
            <a:ext cx="2011680" cy="2011680"/>
          </a:xfrm>
          <a:prstGeom prst="rect">
            <a:avLst/>
          </a:prstGeom>
          <a:solidFill>
            <a:srgbClr val="8E44AD"/>
          </a:solidFill>
          <a:ln w="12700">
            <a:solidFill>
              <a:srgbClr val="8E44AD"/>
            </a:solidFill>
            <a:prstDash val="solid"/>
          </a:ln>
          <a:effectLst>
            <a:outerShdw blurRad="63500" dist="25400" dir="8100000" algn="bl" rotWithShape="0">
              <a:srgbClr val="000000">
                <a:alpha val="12000"/>
              </a:srgbClr>
            </a:outerShdw>
          </a:effectLst>
        </p:spPr>
      </p:sp>
      <p:sp>
        <p:nvSpPr>
          <p:cNvPr id="6" name="Text 4"/>
          <p:cNvSpPr/>
          <p:nvPr/>
        </p:nvSpPr>
        <p:spPr>
          <a:xfrm>
            <a:off x="457200" y="978408"/>
            <a:ext cx="2011680" cy="197510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GNN Branch</a:t>
            </a:r>
            <a:endParaRPr lang="en-US" sz="1200" dirty="0"/>
          </a:p>
          <a:p>
            <a:pPr marL="0" indent="0" algn="ctr">
              <a:buNone/>
            </a:pP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fgnn</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(graph</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embedding)</a:t>
            </a:r>
            <a:endParaRPr lang="en-US" sz="1200" dirty="0"/>
          </a:p>
        </p:txBody>
      </p:sp>
      <p:sp>
        <p:nvSpPr>
          <p:cNvPr id="7" name="Shape 5"/>
          <p:cNvSpPr/>
          <p:nvPr/>
        </p:nvSpPr>
        <p:spPr>
          <a:xfrm>
            <a:off x="6675120" y="960120"/>
            <a:ext cx="2011680" cy="2011680"/>
          </a:xfrm>
          <a:prstGeom prst="rect">
            <a:avLst/>
          </a:prstGeom>
          <a:solidFill>
            <a:srgbClr val="E67E22"/>
          </a:solidFill>
          <a:ln w="12700">
            <a:solidFill>
              <a:srgbClr val="E67E22"/>
            </a:solidFill>
            <a:prstDash val="solid"/>
          </a:ln>
          <a:effectLst>
            <a:outerShdw blurRad="63500" dist="25400" dir="8100000" algn="bl" rotWithShape="0">
              <a:srgbClr val="000000">
                <a:alpha val="12000"/>
              </a:srgbClr>
            </a:outerShdw>
          </a:effectLst>
        </p:spPr>
      </p:sp>
      <p:sp>
        <p:nvSpPr>
          <p:cNvPr id="8" name="Text 6"/>
          <p:cNvSpPr/>
          <p:nvPr/>
        </p:nvSpPr>
        <p:spPr>
          <a:xfrm>
            <a:off x="6675120" y="978408"/>
            <a:ext cx="2011680" cy="197510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Transformer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Branch</a:t>
            </a:r>
            <a:endParaRPr lang="en-US" sz="1200" dirty="0"/>
          </a:p>
          <a:p>
            <a:pPr marL="0" indent="0" algn="ctr">
              <a:buNone/>
            </a:pP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ftr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(context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tokens)</a:t>
            </a:r>
            <a:endParaRPr lang="en-US" sz="1200" dirty="0"/>
          </a:p>
        </p:txBody>
      </p:sp>
      <p:sp>
        <p:nvSpPr>
          <p:cNvPr id="9" name="Shape 7"/>
          <p:cNvSpPr/>
          <p:nvPr/>
        </p:nvSpPr>
        <p:spPr>
          <a:xfrm>
            <a:off x="3082561" y="1156606"/>
            <a:ext cx="2788377" cy="1572988"/>
          </a:xfrm>
          <a:prstGeom prst="rect">
            <a:avLst/>
          </a:prstGeom>
          <a:solidFill>
            <a:srgbClr val="E74C3C"/>
          </a:solidFill>
          <a:ln w="12700">
            <a:solidFill>
              <a:srgbClr val="E74C3C"/>
            </a:solidFill>
            <a:prstDash val="solid"/>
          </a:ln>
          <a:effectLst>
            <a:outerShdw blurRad="63500" dist="25400" dir="8100000" algn="bl" rotWithShape="0">
              <a:srgbClr val="000000">
                <a:alpha val="12000"/>
              </a:srgbClr>
            </a:outerShdw>
          </a:effectLst>
        </p:spPr>
      </p:sp>
      <p:sp>
        <p:nvSpPr>
          <p:cNvPr id="10" name="Text 8"/>
          <p:cNvSpPr/>
          <p:nvPr/>
        </p:nvSpPr>
        <p:spPr>
          <a:xfrm>
            <a:off x="2926080" y="1161288"/>
            <a:ext cx="3291840" cy="1563624"/>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Bidirectional</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Cross-Attention Bridge</a:t>
            </a:r>
            <a:endParaRPr lang="en-US" sz="1400" dirty="0"/>
          </a:p>
        </p:txBody>
      </p:sp>
      <p:sp>
        <p:nvSpPr>
          <p:cNvPr id="11" name="Shape 9"/>
          <p:cNvSpPr/>
          <p:nvPr/>
        </p:nvSpPr>
        <p:spPr>
          <a:xfrm flipV="1">
            <a:off x="2473562" y="1554480"/>
            <a:ext cx="599856" cy="6803"/>
          </a:xfrm>
          <a:prstGeom prst="line">
            <a:avLst/>
          </a:prstGeom>
          <a:noFill/>
          <a:ln w="25400">
            <a:solidFill>
              <a:srgbClr val="8E44AD"/>
            </a:solidFill>
            <a:prstDash val="solid"/>
          </a:ln>
        </p:spPr>
      </p:sp>
      <p:sp>
        <p:nvSpPr>
          <p:cNvPr id="12" name="Shape 10"/>
          <p:cNvSpPr/>
          <p:nvPr/>
        </p:nvSpPr>
        <p:spPr>
          <a:xfrm flipV="1">
            <a:off x="5889227" y="1540873"/>
            <a:ext cx="776749" cy="1"/>
          </a:xfrm>
          <a:prstGeom prst="line">
            <a:avLst/>
          </a:prstGeom>
          <a:noFill/>
          <a:ln w="25400">
            <a:solidFill>
              <a:srgbClr val="E67E22"/>
            </a:solidFill>
            <a:prstDash val="solid"/>
          </a:ln>
        </p:spPr>
      </p:sp>
      <p:sp>
        <p:nvSpPr>
          <p:cNvPr id="13" name="Shape 11"/>
          <p:cNvSpPr/>
          <p:nvPr/>
        </p:nvSpPr>
        <p:spPr>
          <a:xfrm flipV="1">
            <a:off x="2480365" y="1933847"/>
            <a:ext cx="599856" cy="6803"/>
          </a:xfrm>
          <a:prstGeom prst="line">
            <a:avLst/>
          </a:prstGeom>
          <a:noFill/>
          <a:ln w="25400">
            <a:solidFill>
              <a:srgbClr val="E74C3C"/>
            </a:solidFill>
            <a:prstDash val="solid"/>
          </a:ln>
        </p:spPr>
      </p:sp>
      <p:sp>
        <p:nvSpPr>
          <p:cNvPr id="14" name="Shape 12"/>
          <p:cNvSpPr/>
          <p:nvPr/>
        </p:nvSpPr>
        <p:spPr>
          <a:xfrm>
            <a:off x="5882423" y="1913437"/>
            <a:ext cx="790356" cy="0"/>
          </a:xfrm>
          <a:prstGeom prst="line">
            <a:avLst/>
          </a:prstGeom>
          <a:noFill/>
          <a:ln w="25400">
            <a:solidFill>
              <a:srgbClr val="E74C3C"/>
            </a:solidFill>
            <a:prstDash val="solid"/>
          </a:ln>
        </p:spPr>
      </p:sp>
      <p:sp>
        <p:nvSpPr>
          <p:cNvPr id="15" name="Text 13"/>
          <p:cNvSpPr/>
          <p:nvPr/>
        </p:nvSpPr>
        <p:spPr>
          <a:xfrm>
            <a:off x="2387237" y="1288052"/>
            <a:ext cx="792751" cy="1278798"/>
          </a:xfrm>
          <a:prstGeom prst="rect">
            <a:avLst/>
          </a:prstGeom>
          <a:noFill/>
          <a:ln/>
        </p:spPr>
        <p:txBody>
          <a:bodyPr wrap="square" rtlCol="0" anchor="ctr"/>
          <a:lstStyle/>
          <a:p>
            <a:pPr marL="0" indent="0" algn="ctr">
              <a:buNone/>
            </a:pPr>
            <a:r>
              <a:rPr lang="en-US" sz="800" dirty="0">
                <a:solidFill>
                  <a:srgbClr val="8E44AD"/>
                </a:solidFill>
                <a:latin typeface="Calibri" pitchFamily="34" charset="0"/>
                <a:ea typeface="Calibri" pitchFamily="34" charset="-122"/>
                <a:cs typeface="Calibri" pitchFamily="34" charset="-120"/>
              </a:rPr>
              <a:t>GNN → Transformer:</a:t>
            </a:r>
            <a:endParaRPr lang="en-US" sz="800" dirty="0"/>
          </a:p>
          <a:p>
            <a:pPr marL="0" indent="0" algn="ctr">
              <a:buNone/>
            </a:pPr>
            <a:r>
              <a:rPr lang="en-US" sz="800" dirty="0">
                <a:solidFill>
                  <a:srgbClr val="8E44AD"/>
                </a:solidFill>
                <a:latin typeface="Calibri" pitchFamily="34" charset="0"/>
                <a:ea typeface="Calibri" pitchFamily="34" charset="-122"/>
                <a:cs typeface="Calibri" pitchFamily="34" charset="-120"/>
              </a:rPr>
              <a:t>Structural priors</a:t>
            </a:r>
            <a:endParaRPr lang="en-US" sz="800" dirty="0"/>
          </a:p>
          <a:p>
            <a:pPr marL="0" indent="0" algn="ctr">
              <a:buNone/>
            </a:pPr>
            <a:r>
              <a:rPr lang="en-US" sz="800" dirty="0">
                <a:solidFill>
                  <a:srgbClr val="8E44AD"/>
                </a:solidFill>
                <a:latin typeface="Calibri" pitchFamily="34" charset="0"/>
                <a:ea typeface="Calibri" pitchFamily="34" charset="-122"/>
                <a:cs typeface="Calibri" pitchFamily="34" charset="-120"/>
              </a:rPr>
              <a:t>enrich global features</a:t>
            </a:r>
            <a:endParaRPr lang="en-US" sz="800" dirty="0"/>
          </a:p>
        </p:txBody>
      </p:sp>
      <p:sp>
        <p:nvSpPr>
          <p:cNvPr id="16" name="Text 14"/>
          <p:cNvSpPr/>
          <p:nvPr/>
        </p:nvSpPr>
        <p:spPr>
          <a:xfrm>
            <a:off x="5899785" y="1288052"/>
            <a:ext cx="751930" cy="1251585"/>
          </a:xfrm>
          <a:prstGeom prst="rect">
            <a:avLst/>
          </a:prstGeom>
          <a:noFill/>
          <a:ln/>
        </p:spPr>
        <p:txBody>
          <a:bodyPr wrap="square" rtlCol="0" anchor="ctr"/>
          <a:lstStyle/>
          <a:p>
            <a:pPr marL="0" indent="0" algn="ctr">
              <a:buNone/>
            </a:pPr>
            <a:r>
              <a:rPr lang="en-US" sz="800" dirty="0">
                <a:solidFill>
                  <a:srgbClr val="E67E22"/>
                </a:solidFill>
                <a:latin typeface="Calibri" pitchFamily="34" charset="0"/>
                <a:ea typeface="Calibri" pitchFamily="34" charset="-122"/>
                <a:cs typeface="Calibri" pitchFamily="34" charset="-120"/>
              </a:rPr>
              <a:t>Transformer → GNN:</a:t>
            </a:r>
            <a:endParaRPr lang="en-US" sz="800" dirty="0"/>
          </a:p>
          <a:p>
            <a:pPr marL="0" indent="0" algn="ctr">
              <a:buNone/>
            </a:pPr>
            <a:r>
              <a:rPr lang="en-US" sz="800" dirty="0">
                <a:solidFill>
                  <a:srgbClr val="E67E22"/>
                </a:solidFill>
                <a:latin typeface="Calibri" pitchFamily="34" charset="0"/>
                <a:ea typeface="Calibri" pitchFamily="34" charset="-122"/>
                <a:cs typeface="Calibri" pitchFamily="34" charset="-120"/>
              </a:rPr>
              <a:t>Context tokens refine</a:t>
            </a:r>
            <a:endParaRPr lang="en-US" sz="800" dirty="0"/>
          </a:p>
          <a:p>
            <a:pPr marL="0" indent="0" algn="ctr">
              <a:buNone/>
            </a:pPr>
            <a:r>
              <a:rPr lang="en-US" sz="800" dirty="0">
                <a:solidFill>
                  <a:srgbClr val="E67E22"/>
                </a:solidFill>
                <a:latin typeface="Calibri" pitchFamily="34" charset="0"/>
                <a:ea typeface="Calibri" pitchFamily="34" charset="-122"/>
                <a:cs typeface="Calibri" pitchFamily="34" charset="-120"/>
              </a:rPr>
              <a:t>vascular features</a:t>
            </a:r>
            <a:endParaRPr lang="en-US" sz="800" dirty="0"/>
          </a:p>
        </p:txBody>
      </p:sp>
      <p:sp>
        <p:nvSpPr>
          <p:cNvPr id="17" name="Shape 15"/>
          <p:cNvSpPr/>
          <p:nvPr/>
        </p:nvSpPr>
        <p:spPr>
          <a:xfrm>
            <a:off x="457200" y="3154680"/>
            <a:ext cx="2011680" cy="548640"/>
          </a:xfrm>
          <a:prstGeom prst="rect">
            <a:avLst/>
          </a:prstGeom>
          <a:solidFill>
            <a:srgbClr val="02C39A"/>
          </a:solidFill>
          <a:ln w="12700">
            <a:solidFill>
              <a:srgbClr val="02C39A"/>
            </a:solidFill>
            <a:prstDash val="solid"/>
          </a:ln>
        </p:spPr>
      </p:sp>
      <p:sp>
        <p:nvSpPr>
          <p:cNvPr id="18" name="Text 16"/>
          <p:cNvSpPr/>
          <p:nvPr/>
        </p:nvSpPr>
        <p:spPr>
          <a:xfrm>
            <a:off x="457200" y="3172968"/>
            <a:ext cx="2011680" cy="512064"/>
          </a:xfrm>
          <a:prstGeom prst="rect">
            <a:avLst/>
          </a:prstGeom>
          <a:noFill/>
          <a:ln/>
        </p:spPr>
        <p:txBody>
          <a:bodyPr wrap="square" rtlCol="0" anchor="ctr"/>
          <a:lstStyle/>
          <a:p>
            <a:pPr marL="0" indent="0" algn="ctr">
              <a:buNone/>
            </a:pPr>
            <a:r>
              <a:rPr lang="en-US" sz="1200" b="1" dirty="0">
                <a:solidFill>
                  <a:srgbClr val="0A2540"/>
                </a:solidFill>
                <a:latin typeface="Calibri" pitchFamily="34" charset="0"/>
                <a:ea typeface="Calibri" pitchFamily="34" charset="-122"/>
                <a:cs typeface="Calibri" pitchFamily="34" charset="-120"/>
              </a:rPr>
              <a:t>f̃gnn (refined)</a:t>
            </a:r>
            <a:endParaRPr lang="en-US" sz="1200" dirty="0"/>
          </a:p>
        </p:txBody>
      </p:sp>
      <p:sp>
        <p:nvSpPr>
          <p:cNvPr id="19" name="Shape 17"/>
          <p:cNvSpPr/>
          <p:nvPr/>
        </p:nvSpPr>
        <p:spPr>
          <a:xfrm>
            <a:off x="6675120" y="3154680"/>
            <a:ext cx="2011680" cy="548640"/>
          </a:xfrm>
          <a:prstGeom prst="rect">
            <a:avLst/>
          </a:prstGeom>
          <a:solidFill>
            <a:srgbClr val="02C39A"/>
          </a:solidFill>
          <a:ln w="12700">
            <a:solidFill>
              <a:srgbClr val="02C39A"/>
            </a:solidFill>
            <a:prstDash val="solid"/>
          </a:ln>
        </p:spPr>
      </p:sp>
      <p:sp>
        <p:nvSpPr>
          <p:cNvPr id="20" name="Text 18"/>
          <p:cNvSpPr/>
          <p:nvPr/>
        </p:nvSpPr>
        <p:spPr>
          <a:xfrm>
            <a:off x="6675120" y="3172968"/>
            <a:ext cx="2011680" cy="512064"/>
          </a:xfrm>
          <a:prstGeom prst="rect">
            <a:avLst/>
          </a:prstGeom>
          <a:noFill/>
          <a:ln/>
        </p:spPr>
        <p:txBody>
          <a:bodyPr wrap="square" rtlCol="0" anchor="ctr"/>
          <a:lstStyle/>
          <a:p>
            <a:pPr marL="0" indent="0" algn="ctr">
              <a:buNone/>
            </a:pPr>
            <a:r>
              <a:rPr lang="en-US" sz="1200" b="1" dirty="0">
                <a:solidFill>
                  <a:srgbClr val="0A2540"/>
                </a:solidFill>
                <a:latin typeface="Calibri" pitchFamily="34" charset="0"/>
                <a:ea typeface="Calibri" pitchFamily="34" charset="-122"/>
                <a:cs typeface="Calibri" pitchFamily="34" charset="-120"/>
              </a:rPr>
              <a:t>f̃tr (refined)</a:t>
            </a:r>
            <a:endParaRPr lang="en-US" sz="1200" dirty="0"/>
          </a:p>
        </p:txBody>
      </p:sp>
      <p:sp>
        <p:nvSpPr>
          <p:cNvPr id="21" name="Shape 19"/>
          <p:cNvSpPr/>
          <p:nvPr/>
        </p:nvSpPr>
        <p:spPr>
          <a:xfrm>
            <a:off x="1371600" y="3840480"/>
            <a:ext cx="6400800" cy="548640"/>
          </a:xfrm>
          <a:prstGeom prst="rect">
            <a:avLst/>
          </a:prstGeom>
          <a:solidFill>
            <a:srgbClr val="0A2540"/>
          </a:solidFill>
          <a:ln w="12700">
            <a:solidFill>
              <a:srgbClr val="0A2540"/>
            </a:solidFill>
            <a:prstDash val="solid"/>
          </a:ln>
          <a:effectLst>
            <a:outerShdw blurRad="63500" dist="25400" dir="8100000" algn="bl" rotWithShape="0">
              <a:srgbClr val="000000">
                <a:alpha val="12000"/>
              </a:srgbClr>
            </a:outerShdw>
          </a:effectLst>
        </p:spPr>
      </p:sp>
      <p:sp>
        <p:nvSpPr>
          <p:cNvPr id="22" name="Text 20"/>
          <p:cNvSpPr/>
          <p:nvPr/>
        </p:nvSpPr>
        <p:spPr>
          <a:xfrm>
            <a:off x="1371600" y="3858768"/>
            <a:ext cx="6400800" cy="51206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Final Feature:   f = [ fcnn  ‖  f̃gnn  ‖  f̃tr ]  →  MLP → 5-Class Output</a:t>
            </a:r>
            <a:endParaRPr lang="en-US" sz="1300" dirty="0"/>
          </a:p>
        </p:txBody>
      </p:sp>
      <p:sp>
        <p:nvSpPr>
          <p:cNvPr id="23" name="Text 21"/>
          <p:cNvSpPr/>
          <p:nvPr/>
        </p:nvSpPr>
        <p:spPr>
          <a:xfrm>
            <a:off x="457200" y="4206240"/>
            <a:ext cx="8229600" cy="640080"/>
          </a:xfrm>
          <a:prstGeom prst="rect">
            <a:avLst/>
          </a:prstGeom>
          <a:noFill/>
          <a:ln/>
        </p:spPr>
        <p:txBody>
          <a:bodyPr wrap="square" rtlCol="0" anchor="ctr"/>
          <a:lstStyle/>
          <a:p>
            <a:pPr marL="0" indent="0" algn="ctr">
              <a:buNone/>
            </a:pPr>
            <a:r>
              <a:rPr lang="en-US" sz="1100" i="1" dirty="0">
                <a:solidFill>
                  <a:srgbClr val="0D7A8A"/>
                </a:solidFill>
                <a:latin typeface="Calibri" pitchFamily="34" charset="0"/>
                <a:ea typeface="Calibri" pitchFamily="34" charset="-122"/>
                <a:cs typeface="Calibri" pitchFamily="34" charset="-120"/>
              </a:rPr>
              <a:t>CrossAttn(Q,K,V): f̃gnn = CrossAttn(fgnn, ftr, ftr)   |   f̃tr = CrossAttn(ftr, fgnn, fgnn)</a:t>
            </a:r>
            <a:endParaRPr lang="en-US" sz="1100" dirty="0"/>
          </a:p>
        </p:txBody>
      </p:sp>
      <p:sp>
        <p:nvSpPr>
          <p:cNvPr id="24" name="Text 22"/>
          <p:cNvSpPr/>
          <p:nvPr/>
        </p:nvSpPr>
        <p:spPr>
          <a:xfrm>
            <a:off x="457200" y="4262511"/>
            <a:ext cx="8229600" cy="1169025"/>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Enables mutual enrichment: structural priors improve contextual reasoning and vice versa</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Ablation shows +1.8% accuracy and +0.02 QWK from cross-attention alone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Training Details &amp; Optimization Strategy</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602736"/>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9319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Rationale</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Optimizer</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AdamW</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Decoupled weight decay → better regularization</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1×10⁻⁴ + Cosine Annealing</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Smooth convergence to better minima</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LR Warm-Up</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Linear over 10 epochs</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Stabilizes Transformer components early</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Loss Function</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Weighted Cross-Entropy + Label Smoothing</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Handles class imbalance + reduces overconfidence</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16 on NVIDIA A100 (40GB)</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Mixed-precision for memory efficiency</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Dropout</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0.3 in classification head</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Reduces overfitting in MLP layers</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Epochs</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100 (early stopping on val QWK)</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Best QWK checkpoint retained</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Input Size</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512 × 512 px</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Multi-scale feature extraction</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Shape 3"/>
          <p:cNvSpPr/>
          <p:nvPr/>
        </p:nvSpPr>
        <p:spPr>
          <a:xfrm>
            <a:off x="457200" y="4572000"/>
            <a:ext cx="8229600" cy="438912"/>
          </a:xfrm>
          <a:prstGeom prst="rect">
            <a:avLst/>
          </a:prstGeom>
          <a:solidFill>
            <a:srgbClr val="EDF7FF"/>
          </a:solidFill>
          <a:ln w="12700">
            <a:solidFill>
              <a:srgbClr val="0D7A8A"/>
            </a:solidFill>
            <a:prstDash val="solid"/>
          </a:ln>
        </p:spPr>
      </p:sp>
      <p:sp>
        <p:nvSpPr>
          <p:cNvPr id="7" name="Text 4"/>
          <p:cNvSpPr/>
          <p:nvPr/>
        </p:nvSpPr>
        <p:spPr>
          <a:xfrm>
            <a:off x="548640" y="4617720"/>
            <a:ext cx="8046720" cy="365760"/>
          </a:xfrm>
          <a:prstGeom prst="rect">
            <a:avLst/>
          </a:prstGeom>
          <a:noFill/>
          <a:ln/>
        </p:spPr>
        <p:txBody>
          <a:bodyPr wrap="square" rtlCol="0" anchor="ctr"/>
          <a:lstStyle/>
          <a:p>
            <a:pPr marL="0" indent="0" algn="ctr">
              <a:buNone/>
            </a:pPr>
            <a:r>
              <a:rPr lang="en-US" sz="1100" dirty="0">
                <a:solidFill>
                  <a:srgbClr val="0D7A8A"/>
                </a:solidFill>
                <a:latin typeface="Calibri" pitchFamily="34" charset="0"/>
                <a:ea typeface="Calibri" pitchFamily="34" charset="-122"/>
                <a:cs typeface="Calibri" pitchFamily="34" charset="-120"/>
              </a:rPr>
              <a:t>Class weights wc ∝ 1/freq(c)  — minority classes (Severe, Proliferative DR) weighted higher to prevent bias toward majority classes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Results: Quantitative Performance Comparison</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7680960" cy="2011680"/>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Accuracy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F1 Score</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QWK</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Precision</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Recall</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MCC</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Error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ResNet50</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84.2</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0.79</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0.88</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0.80</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0.79</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0.77</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15.8</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Vision Transformer</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85.7</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0.80</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0.89</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0.81</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0.80</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0.78</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14.3</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EfficientNet-B4</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86.1</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0.81</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0.90</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0.82</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0.81</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0.79</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50" dirty="0">
                          <a:solidFill>
                            <a:srgbClr val="000000"/>
                          </a:solidFill>
                          <a:latin typeface="Calibri" pitchFamily="34" charset="0"/>
                          <a:ea typeface="Calibri" pitchFamily="34" charset="-122"/>
                          <a:cs typeface="Calibri" pitchFamily="34" charset="-120"/>
                        </a:rPr>
                        <a:t>13.9</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ReGraNet (Ours)</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91.5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0.91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0.96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0.92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0.91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0.89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50" b="1" dirty="0">
                          <a:solidFill>
                            <a:srgbClr val="000000"/>
                          </a:solidFill>
                          <a:latin typeface="Calibri" pitchFamily="34" charset="0"/>
                          <a:ea typeface="Calibri" pitchFamily="34" charset="-122"/>
                          <a:cs typeface="Calibri" pitchFamily="34" charset="-120"/>
                        </a:rPr>
                        <a:t>8.5 ✓</a:t>
                      </a:r>
                      <a:endParaRPr lang="en-US" sz="115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extLst>
                  <a:ext uri="{0D108BD9-81ED-4DB2-BD59-A6C34878D82A}">
                    <a16:rowId xmlns:a16="http://schemas.microsoft.com/office/drawing/2014/main" val="10004"/>
                  </a:ext>
                </a:extLst>
              </a:tr>
            </a:tbl>
          </a:graphicData>
        </a:graphic>
      </p:graphicFrame>
      <p:sp>
        <p:nvSpPr>
          <p:cNvPr id="6" name="Text 3"/>
          <p:cNvSpPr/>
          <p:nvPr/>
        </p:nvSpPr>
        <p:spPr>
          <a:xfrm>
            <a:off x="457200" y="3200400"/>
            <a:ext cx="8229600" cy="256032"/>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All metrics macro-averaged over 5 DR classes. Test set: 496 images.</a:t>
            </a:r>
            <a:endParaRPr lang="en-US" sz="900" dirty="0"/>
          </a:p>
        </p:txBody>
      </p:sp>
      <p:sp>
        <p:nvSpPr>
          <p:cNvPr id="7" name="Text 4"/>
          <p:cNvSpPr/>
          <p:nvPr/>
        </p:nvSpPr>
        <p:spPr>
          <a:xfrm>
            <a:off x="457200" y="3493008"/>
            <a:ext cx="8229600" cy="292608"/>
          </a:xfrm>
          <a:prstGeom prst="rect">
            <a:avLst/>
          </a:prstGeom>
          <a:noFill/>
          <a:ln/>
        </p:spPr>
        <p:txBody>
          <a:bodyPr wrap="square" rtlCol="0" anchor="ctr"/>
          <a:lstStyle/>
          <a:p>
            <a:pPr marL="0" indent="0">
              <a:buNone/>
            </a:pPr>
            <a:r>
              <a:rPr lang="en-US" sz="1400" b="1" dirty="0">
                <a:solidFill>
                  <a:srgbClr val="0A2540"/>
                </a:solidFill>
                <a:latin typeface="Calibri" pitchFamily="34" charset="0"/>
                <a:ea typeface="Calibri" pitchFamily="34" charset="-122"/>
                <a:cs typeface="Calibri" pitchFamily="34" charset="-120"/>
              </a:rPr>
              <a:t>Key Insights</a:t>
            </a:r>
            <a:endParaRPr lang="en-US" sz="1400" dirty="0"/>
          </a:p>
        </p:txBody>
      </p:sp>
      <p:sp>
        <p:nvSpPr>
          <p:cNvPr id="8" name="Shape 5"/>
          <p:cNvSpPr/>
          <p:nvPr/>
        </p:nvSpPr>
        <p:spPr>
          <a:xfrm>
            <a:off x="457200" y="3840480"/>
            <a:ext cx="1920240" cy="1051560"/>
          </a:xfrm>
          <a:prstGeom prst="rect">
            <a:avLst/>
          </a:prstGeom>
          <a:solidFill>
            <a:srgbClr val="F0F7FA"/>
          </a:solidFill>
          <a:ln w="25400">
            <a:solidFill>
              <a:srgbClr val="E74C3C"/>
            </a:solidFill>
            <a:prstDash val="solid"/>
          </a:ln>
          <a:effectLst>
            <a:outerShdw blurRad="63500" dist="25400" dir="8100000" algn="bl" rotWithShape="0">
              <a:srgbClr val="000000">
                <a:alpha val="12000"/>
              </a:srgbClr>
            </a:outerShdw>
          </a:effectLst>
        </p:spPr>
      </p:sp>
      <p:sp>
        <p:nvSpPr>
          <p:cNvPr id="9" name="Text 6"/>
          <p:cNvSpPr/>
          <p:nvPr/>
        </p:nvSpPr>
        <p:spPr>
          <a:xfrm>
            <a:off x="457200" y="3858768"/>
            <a:ext cx="1920240" cy="475488"/>
          </a:xfrm>
          <a:prstGeom prst="rect">
            <a:avLst/>
          </a:prstGeom>
          <a:noFill/>
          <a:ln/>
        </p:spPr>
        <p:txBody>
          <a:bodyPr wrap="square" rtlCol="0" anchor="ctr"/>
          <a:lstStyle/>
          <a:p>
            <a:pPr marL="0" indent="0" algn="ctr">
              <a:buNone/>
            </a:pPr>
            <a:r>
              <a:rPr lang="en-US" sz="1800" b="1" dirty="0">
                <a:solidFill>
                  <a:srgbClr val="E74C3C"/>
                </a:solidFill>
                <a:latin typeface="Calibri" pitchFamily="34" charset="0"/>
                <a:ea typeface="Calibri" pitchFamily="34" charset="-122"/>
                <a:cs typeface="Calibri" pitchFamily="34" charset="-120"/>
              </a:rPr>
              <a:t>+7.3pp</a:t>
            </a:r>
            <a:endParaRPr lang="en-US" sz="1800" dirty="0"/>
          </a:p>
        </p:txBody>
      </p:sp>
      <p:sp>
        <p:nvSpPr>
          <p:cNvPr id="10" name="Text 7"/>
          <p:cNvSpPr/>
          <p:nvPr/>
        </p:nvSpPr>
        <p:spPr>
          <a:xfrm>
            <a:off x="502920" y="4334256"/>
            <a:ext cx="1828800" cy="530352"/>
          </a:xfrm>
          <a:prstGeom prst="rect">
            <a:avLst/>
          </a:prstGeom>
          <a:noFill/>
          <a:ln/>
        </p:spPr>
        <p:txBody>
          <a:bodyPr wrap="square"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accuracy gain over ResNet50 (84.2% → 91.5%)</a:t>
            </a:r>
            <a:endParaRPr lang="en-US" sz="900" dirty="0"/>
          </a:p>
        </p:txBody>
      </p:sp>
      <p:sp>
        <p:nvSpPr>
          <p:cNvPr id="11" name="Shape 8"/>
          <p:cNvSpPr/>
          <p:nvPr/>
        </p:nvSpPr>
        <p:spPr>
          <a:xfrm>
            <a:off x="2560320" y="3840480"/>
            <a:ext cx="1920240" cy="1051560"/>
          </a:xfrm>
          <a:prstGeom prst="rect">
            <a:avLst/>
          </a:prstGeom>
          <a:solidFill>
            <a:srgbClr val="F0F7FA"/>
          </a:solidFill>
          <a:ln w="25400">
            <a:solidFill>
              <a:srgbClr val="0D7A8A"/>
            </a:solidFill>
            <a:prstDash val="solid"/>
          </a:ln>
          <a:effectLst>
            <a:outerShdw blurRad="63500" dist="25400" dir="8100000" algn="bl" rotWithShape="0">
              <a:srgbClr val="000000">
                <a:alpha val="12000"/>
              </a:srgbClr>
            </a:outerShdw>
          </a:effectLst>
        </p:spPr>
      </p:sp>
      <p:sp>
        <p:nvSpPr>
          <p:cNvPr id="12" name="Text 9"/>
          <p:cNvSpPr/>
          <p:nvPr/>
        </p:nvSpPr>
        <p:spPr>
          <a:xfrm>
            <a:off x="2560320" y="3858768"/>
            <a:ext cx="1920240" cy="475488"/>
          </a:xfrm>
          <a:prstGeom prst="rect">
            <a:avLst/>
          </a:prstGeom>
          <a:noFill/>
          <a:ln/>
        </p:spPr>
        <p:txBody>
          <a:bodyPr wrap="square" rtlCol="0" anchor="ctr"/>
          <a:lstStyle/>
          <a:p>
            <a:pPr marL="0" indent="0" algn="ctr">
              <a:buNone/>
            </a:pPr>
            <a:r>
              <a:rPr lang="en-US" sz="1800" b="1" dirty="0">
                <a:solidFill>
                  <a:srgbClr val="0D7A8A"/>
                </a:solidFill>
                <a:latin typeface="Calibri" pitchFamily="34" charset="0"/>
                <a:ea typeface="Calibri" pitchFamily="34" charset="-122"/>
                <a:cs typeface="Calibri" pitchFamily="34" charset="-120"/>
              </a:rPr>
              <a:t>0.96 QWK</a:t>
            </a:r>
            <a:endParaRPr lang="en-US" sz="1800" dirty="0"/>
          </a:p>
        </p:txBody>
      </p:sp>
      <p:sp>
        <p:nvSpPr>
          <p:cNvPr id="13" name="Text 10"/>
          <p:cNvSpPr/>
          <p:nvPr/>
        </p:nvSpPr>
        <p:spPr>
          <a:xfrm>
            <a:off x="2606040" y="4334256"/>
            <a:ext cx="1828800" cy="530352"/>
          </a:xfrm>
          <a:prstGeom prst="rect">
            <a:avLst/>
          </a:prstGeom>
          <a:noFill/>
          <a:ln/>
        </p:spPr>
        <p:txBody>
          <a:bodyPr wrap="square"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near-perfect ordinal grading agreement with ground truth</a:t>
            </a:r>
            <a:endParaRPr lang="en-US" sz="900" dirty="0"/>
          </a:p>
        </p:txBody>
      </p:sp>
      <p:sp>
        <p:nvSpPr>
          <p:cNvPr id="5" name="Shape 11"/>
          <p:cNvSpPr/>
          <p:nvPr/>
        </p:nvSpPr>
        <p:spPr>
          <a:xfrm>
            <a:off x="4663440" y="3840480"/>
            <a:ext cx="1920240" cy="1051560"/>
          </a:xfrm>
          <a:prstGeom prst="rect">
            <a:avLst/>
          </a:prstGeom>
          <a:solidFill>
            <a:srgbClr val="F0F7FA"/>
          </a:solidFill>
          <a:ln w="25400">
            <a:solidFill>
              <a:srgbClr val="8E44AD"/>
            </a:solidFill>
            <a:prstDash val="solid"/>
          </a:ln>
          <a:effectLst>
            <a:outerShdw blurRad="63500" dist="25400" dir="8100000" algn="bl" rotWithShape="0">
              <a:srgbClr val="000000">
                <a:alpha val="12000"/>
              </a:srgbClr>
            </a:outerShdw>
          </a:effectLst>
        </p:spPr>
      </p:sp>
      <p:sp>
        <p:nvSpPr>
          <p:cNvPr id="15" name="Text 12"/>
          <p:cNvSpPr/>
          <p:nvPr/>
        </p:nvSpPr>
        <p:spPr>
          <a:xfrm>
            <a:off x="4663440" y="3858768"/>
            <a:ext cx="1920240" cy="475488"/>
          </a:xfrm>
          <a:prstGeom prst="rect">
            <a:avLst/>
          </a:prstGeom>
          <a:noFill/>
          <a:ln/>
        </p:spPr>
        <p:txBody>
          <a:bodyPr wrap="square" rtlCol="0" anchor="ctr"/>
          <a:lstStyle/>
          <a:p>
            <a:pPr marL="0" indent="0" algn="ctr">
              <a:buNone/>
            </a:pPr>
            <a:r>
              <a:rPr lang="en-US" sz="1800" b="1" dirty="0">
                <a:solidFill>
                  <a:srgbClr val="8E44AD"/>
                </a:solidFill>
                <a:latin typeface="Calibri" pitchFamily="34" charset="0"/>
                <a:ea typeface="Calibri" pitchFamily="34" charset="-122"/>
                <a:cs typeface="Calibri" pitchFamily="34" charset="-120"/>
              </a:rPr>
              <a:t>0.98 Spec.</a:t>
            </a:r>
            <a:endParaRPr lang="en-US" sz="1800" dirty="0"/>
          </a:p>
        </p:txBody>
      </p:sp>
      <p:sp>
        <p:nvSpPr>
          <p:cNvPr id="16" name="Text 13"/>
          <p:cNvSpPr/>
          <p:nvPr/>
        </p:nvSpPr>
        <p:spPr>
          <a:xfrm>
            <a:off x="4709160" y="4334256"/>
            <a:ext cx="1828800" cy="530352"/>
          </a:xfrm>
          <a:prstGeom prst="rect">
            <a:avLst/>
          </a:prstGeom>
          <a:noFill/>
          <a:ln/>
        </p:spPr>
        <p:txBody>
          <a:bodyPr wrap="square"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very low false positive rate — minimal unnecessary referrals</a:t>
            </a:r>
            <a:endParaRPr lang="en-US" sz="900" dirty="0"/>
          </a:p>
        </p:txBody>
      </p:sp>
      <p:sp>
        <p:nvSpPr>
          <p:cNvPr id="17" name="Shape 14"/>
          <p:cNvSpPr/>
          <p:nvPr/>
        </p:nvSpPr>
        <p:spPr>
          <a:xfrm>
            <a:off x="6766560" y="3840480"/>
            <a:ext cx="1920240" cy="1051560"/>
          </a:xfrm>
          <a:prstGeom prst="rect">
            <a:avLst/>
          </a:prstGeom>
          <a:solidFill>
            <a:srgbClr val="F0F7FA"/>
          </a:solidFill>
          <a:ln w="25400">
            <a:solidFill>
              <a:srgbClr val="02C39A"/>
            </a:solidFill>
            <a:prstDash val="solid"/>
          </a:ln>
          <a:effectLst>
            <a:outerShdw blurRad="63500" dist="25400" dir="8100000" algn="bl" rotWithShape="0">
              <a:srgbClr val="000000">
                <a:alpha val="12000"/>
              </a:srgbClr>
            </a:outerShdw>
          </a:effectLst>
        </p:spPr>
      </p:sp>
      <p:sp>
        <p:nvSpPr>
          <p:cNvPr id="18" name="Text 15"/>
          <p:cNvSpPr/>
          <p:nvPr/>
        </p:nvSpPr>
        <p:spPr>
          <a:xfrm>
            <a:off x="6766560" y="3858768"/>
            <a:ext cx="1920240" cy="475488"/>
          </a:xfrm>
          <a:prstGeom prst="rect">
            <a:avLst/>
          </a:prstGeom>
          <a:noFill/>
          <a:ln/>
        </p:spPr>
        <p:txBody>
          <a:bodyPr wrap="square" rtlCol="0" anchor="ctr"/>
          <a:lstStyle/>
          <a:p>
            <a:pPr marL="0" indent="0" algn="ctr">
              <a:buNone/>
            </a:pPr>
            <a:r>
              <a:rPr lang="en-US" sz="1800" b="1" dirty="0">
                <a:solidFill>
                  <a:srgbClr val="02C39A"/>
                </a:solidFill>
                <a:latin typeface="Calibri" pitchFamily="34" charset="0"/>
                <a:ea typeface="Calibri" pitchFamily="34" charset="-122"/>
                <a:cs typeface="Calibri" pitchFamily="34" charset="-120"/>
              </a:rPr>
              <a:t>8.5% Error</a:t>
            </a:r>
            <a:endParaRPr lang="en-US" sz="1800" dirty="0"/>
          </a:p>
        </p:txBody>
      </p:sp>
      <p:sp>
        <p:nvSpPr>
          <p:cNvPr id="19" name="Text 16"/>
          <p:cNvSpPr/>
          <p:nvPr/>
        </p:nvSpPr>
        <p:spPr>
          <a:xfrm>
            <a:off x="6812280" y="4334256"/>
            <a:ext cx="1828800" cy="530352"/>
          </a:xfrm>
          <a:prstGeom prst="rect">
            <a:avLst/>
          </a:prstGeom>
          <a:noFill/>
          <a:ln/>
        </p:spPr>
        <p:txBody>
          <a:bodyPr wrap="square"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vs 13.9% for best baseline — 38% relative improvement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Ablation Study: Contribution of Each Component</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5669280" cy="3374136"/>
        </p:xfrm>
        <a:graphic>
          <a:graphicData uri="http://schemas.openxmlformats.org/drawingml/2006/table">
            <a:tbl>
              <a:tblPr/>
              <a:tblGrid>
                <a:gridCol w="2560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7490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Accuracy (%)</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F1 Score</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QWK</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37490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GNN only (GAT)</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79.4</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0.84</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GNN + Transformer (no CNN)</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84.9</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0.83</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2"/>
                  </a:ext>
                </a:extLst>
              </a:tr>
              <a:tr h="37490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CNN only (EfficientNet-B4)</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86.1</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3"/>
                  </a:ext>
                </a:extLst>
              </a:tr>
              <a:tr h="37490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Vision Transformer only (ViT)</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85.7</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0.89</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4"/>
                  </a:ext>
                </a:extLst>
              </a:tr>
              <a:tr h="37490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CNN + GNN (no Transformer)</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87.6</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5"/>
                  </a:ext>
                </a:extLst>
              </a:tr>
              <a:tr h="37490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CNN + Transformer (no GNN)</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88.3</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0.87</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0.93</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6"/>
                  </a:ext>
                </a:extLst>
              </a:tr>
              <a:tr h="374904">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Full model (no cross-attention)</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89.7</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0.89</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0.94</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7"/>
                  </a:ext>
                </a:extLst>
              </a:tr>
              <a:tr h="374904">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ReGraNet Full Model</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91.5</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0.91</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extLst>
                  <a:ext uri="{0D108BD9-81ED-4DB2-BD59-A6C34878D82A}">
                    <a16:rowId xmlns:a16="http://schemas.microsoft.com/office/drawing/2014/main" val="10008"/>
                  </a:ext>
                </a:extLst>
              </a:tr>
            </a:tbl>
          </a:graphicData>
        </a:graphic>
      </p:graphicFrame>
      <p:sp>
        <p:nvSpPr>
          <p:cNvPr id="6" name="Text 3"/>
          <p:cNvSpPr/>
          <p:nvPr/>
        </p:nvSpPr>
        <p:spPr>
          <a:xfrm>
            <a:off x="6400800" y="960120"/>
            <a:ext cx="2286000" cy="32004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Component Contribution Summary</a:t>
            </a:r>
            <a:endParaRPr lang="en-US" sz="1200" dirty="0"/>
          </a:p>
        </p:txBody>
      </p:sp>
      <p:sp>
        <p:nvSpPr>
          <p:cNvPr id="7" name="Shape 4"/>
          <p:cNvSpPr/>
          <p:nvPr/>
        </p:nvSpPr>
        <p:spPr>
          <a:xfrm>
            <a:off x="6400800" y="1371600"/>
            <a:ext cx="2286000" cy="822960"/>
          </a:xfrm>
          <a:prstGeom prst="rect">
            <a:avLst/>
          </a:prstGeom>
          <a:solidFill>
            <a:srgbClr val="F0F7FA"/>
          </a:solidFill>
          <a:ln w="12700">
            <a:solidFill>
              <a:srgbClr val="0D7A8A"/>
            </a:solidFill>
            <a:prstDash val="solid"/>
          </a:ln>
          <a:effectLst>
            <a:outerShdw blurRad="63500" dist="25400" dir="8100000" algn="bl" rotWithShape="0">
              <a:srgbClr val="000000">
                <a:alpha val="12000"/>
              </a:srgbClr>
            </a:outerShdw>
          </a:effectLst>
        </p:spPr>
      </p:sp>
      <p:sp>
        <p:nvSpPr>
          <p:cNvPr id="8" name="Text 5"/>
          <p:cNvSpPr/>
          <p:nvPr/>
        </p:nvSpPr>
        <p:spPr>
          <a:xfrm>
            <a:off x="6492240" y="1399032"/>
            <a:ext cx="2103120" cy="274320"/>
          </a:xfrm>
          <a:prstGeom prst="rect">
            <a:avLst/>
          </a:prstGeom>
          <a:noFill/>
          <a:ln/>
        </p:spPr>
        <p:txBody>
          <a:bodyPr wrap="square" lIns="0" tIns="0" rIns="0" bIns="0"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GNN Branch</a:t>
            </a:r>
            <a:endParaRPr lang="en-US" sz="1100" dirty="0"/>
          </a:p>
        </p:txBody>
      </p:sp>
      <p:sp>
        <p:nvSpPr>
          <p:cNvPr id="9" name="Text 6"/>
          <p:cNvSpPr/>
          <p:nvPr/>
        </p:nvSpPr>
        <p:spPr>
          <a:xfrm>
            <a:off x="6492240" y="1673352"/>
            <a:ext cx="640080" cy="256032"/>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+3.2%</a:t>
            </a:r>
            <a:endParaRPr lang="en-US" sz="1400" dirty="0"/>
          </a:p>
        </p:txBody>
      </p:sp>
      <p:sp>
        <p:nvSpPr>
          <p:cNvPr id="10" name="Text 7"/>
          <p:cNvSpPr/>
          <p:nvPr/>
        </p:nvSpPr>
        <p:spPr>
          <a:xfrm>
            <a:off x="7132320" y="1700784"/>
            <a:ext cx="146304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acc gain from vascular topology</a:t>
            </a:r>
            <a:endParaRPr lang="en-US" sz="900" dirty="0"/>
          </a:p>
        </p:txBody>
      </p:sp>
      <p:sp>
        <p:nvSpPr>
          <p:cNvPr id="11" name="Shape 8"/>
          <p:cNvSpPr/>
          <p:nvPr/>
        </p:nvSpPr>
        <p:spPr>
          <a:xfrm>
            <a:off x="6400800" y="2331720"/>
            <a:ext cx="2286000" cy="822960"/>
          </a:xfrm>
          <a:prstGeom prst="rect">
            <a:avLst/>
          </a:prstGeom>
          <a:solidFill>
            <a:srgbClr val="F0F7FA"/>
          </a:solidFill>
          <a:ln w="12700">
            <a:solidFill>
              <a:srgbClr val="0D7A8A"/>
            </a:solidFill>
            <a:prstDash val="solid"/>
          </a:ln>
          <a:effectLst>
            <a:outerShdw blurRad="63500" dist="25400" dir="8100000" algn="bl" rotWithShape="0">
              <a:srgbClr val="000000">
                <a:alpha val="12000"/>
              </a:srgbClr>
            </a:outerShdw>
          </a:effectLst>
        </p:spPr>
      </p:sp>
      <p:sp>
        <p:nvSpPr>
          <p:cNvPr id="12" name="Text 9"/>
          <p:cNvSpPr/>
          <p:nvPr/>
        </p:nvSpPr>
        <p:spPr>
          <a:xfrm>
            <a:off x="6492240" y="2359152"/>
            <a:ext cx="2103120" cy="274320"/>
          </a:xfrm>
          <a:prstGeom prst="rect">
            <a:avLst/>
          </a:prstGeom>
          <a:noFill/>
          <a:ln/>
        </p:spPr>
        <p:txBody>
          <a:bodyPr wrap="square" lIns="0" tIns="0" rIns="0" bIns="0"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Transformer</a:t>
            </a:r>
            <a:endParaRPr lang="en-US" sz="1100" dirty="0"/>
          </a:p>
        </p:txBody>
      </p:sp>
      <p:sp>
        <p:nvSpPr>
          <p:cNvPr id="13" name="Text 10"/>
          <p:cNvSpPr/>
          <p:nvPr/>
        </p:nvSpPr>
        <p:spPr>
          <a:xfrm>
            <a:off x="6492240" y="2633472"/>
            <a:ext cx="640080" cy="256032"/>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+3.9%</a:t>
            </a:r>
            <a:endParaRPr lang="en-US" sz="1400" dirty="0"/>
          </a:p>
        </p:txBody>
      </p:sp>
      <p:sp>
        <p:nvSpPr>
          <p:cNvPr id="14" name="Text 11"/>
          <p:cNvSpPr/>
          <p:nvPr/>
        </p:nvSpPr>
        <p:spPr>
          <a:xfrm>
            <a:off x="7132320" y="2660904"/>
            <a:ext cx="146304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acc gain from global context</a:t>
            </a:r>
            <a:endParaRPr lang="en-US" sz="900" dirty="0"/>
          </a:p>
        </p:txBody>
      </p:sp>
      <p:sp>
        <p:nvSpPr>
          <p:cNvPr id="5" name="Shape 12"/>
          <p:cNvSpPr/>
          <p:nvPr/>
        </p:nvSpPr>
        <p:spPr>
          <a:xfrm>
            <a:off x="6400800" y="3291840"/>
            <a:ext cx="2286000" cy="822960"/>
          </a:xfrm>
          <a:prstGeom prst="rect">
            <a:avLst/>
          </a:prstGeom>
          <a:solidFill>
            <a:srgbClr val="F0F7FA"/>
          </a:solidFill>
          <a:ln w="12700">
            <a:solidFill>
              <a:srgbClr val="0D7A8A"/>
            </a:solidFill>
            <a:prstDash val="solid"/>
          </a:ln>
          <a:effectLst>
            <a:outerShdw blurRad="63500" dist="25400" dir="8100000" algn="bl" rotWithShape="0">
              <a:srgbClr val="000000">
                <a:alpha val="12000"/>
              </a:srgbClr>
            </a:outerShdw>
          </a:effectLst>
        </p:spPr>
      </p:sp>
      <p:sp>
        <p:nvSpPr>
          <p:cNvPr id="16" name="Text 13"/>
          <p:cNvSpPr/>
          <p:nvPr/>
        </p:nvSpPr>
        <p:spPr>
          <a:xfrm>
            <a:off x="6492240" y="3319272"/>
            <a:ext cx="2103120" cy="274320"/>
          </a:xfrm>
          <a:prstGeom prst="rect">
            <a:avLst/>
          </a:prstGeom>
          <a:noFill/>
          <a:ln/>
        </p:spPr>
        <p:txBody>
          <a:bodyPr wrap="square" lIns="0" tIns="0" rIns="0" bIns="0"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Cross-Attn</a:t>
            </a:r>
            <a:endParaRPr lang="en-US" sz="1100" dirty="0"/>
          </a:p>
        </p:txBody>
      </p:sp>
      <p:sp>
        <p:nvSpPr>
          <p:cNvPr id="17" name="Text 14"/>
          <p:cNvSpPr/>
          <p:nvPr/>
        </p:nvSpPr>
        <p:spPr>
          <a:xfrm>
            <a:off x="6492240" y="3593592"/>
            <a:ext cx="640080" cy="256032"/>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+1.8%</a:t>
            </a:r>
            <a:endParaRPr lang="en-US" sz="1400" dirty="0"/>
          </a:p>
        </p:txBody>
      </p:sp>
      <p:sp>
        <p:nvSpPr>
          <p:cNvPr id="18" name="Text 15"/>
          <p:cNvSpPr/>
          <p:nvPr/>
        </p:nvSpPr>
        <p:spPr>
          <a:xfrm>
            <a:off x="7132320" y="3621024"/>
            <a:ext cx="146304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acc gain from mutual interaction</a:t>
            </a:r>
            <a:endParaRPr lang="en-US" sz="900" dirty="0"/>
          </a:p>
        </p:txBody>
      </p:sp>
      <p:sp>
        <p:nvSpPr>
          <p:cNvPr id="19" name="Text 16"/>
          <p:cNvSpPr/>
          <p:nvPr/>
        </p:nvSpPr>
        <p:spPr>
          <a:xfrm>
            <a:off x="457200" y="4434840"/>
            <a:ext cx="8229600" cy="274320"/>
          </a:xfrm>
          <a:prstGeom prst="rect">
            <a:avLst/>
          </a:prstGeom>
          <a:noFill/>
          <a:ln/>
        </p:spPr>
        <p:txBody>
          <a:bodyPr wrap="square"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Key Findings from Ablation</a:t>
            </a:r>
            <a:endParaRPr lang="en-US" sz="1300" dirty="0"/>
          </a:p>
        </p:txBody>
      </p:sp>
      <p:sp>
        <p:nvSpPr>
          <p:cNvPr id="20" name="Text 17"/>
          <p:cNvSpPr/>
          <p:nvPr/>
        </p:nvSpPr>
        <p:spPr>
          <a:xfrm>
            <a:off x="502920" y="4434840"/>
            <a:ext cx="8138160" cy="96012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GNN-only achieves lowest accuracy (79.4%) — vessel topology alone is insufficient without appearance features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Each branch independently improves on baselines; combinations provide additive benefits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Cross-attention contributes +1.8pp beyond simple concatenation — mutual interaction matters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Comparison with State-of-the-Art Methods</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7315200" cy="3377184"/>
        </p:xfrm>
        <a:graphic>
          <a:graphicData uri="http://schemas.openxmlformats.org/drawingml/2006/table">
            <a:tbl>
              <a:tblPr/>
              <a:tblGrid>
                <a:gridCol w="1600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Venue</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Key Approach</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Acc. (%)</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QWK</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Gulshan et al.</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JAMA 2016</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Deep CNN on large clinical dataset</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86.3</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0.81</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0.90</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Gargeya &amp; Leng</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Ophthalmology 2017</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CNN generalization across datasets</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85.1</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0.88</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Sun et al. (LATr)</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CVPR 2021</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Lesion-aware Transformer</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87.4</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0.83</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He et al. (CABNet)</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IEEE TMI 2020</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Category attention + multi-scale</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88.2</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0.84</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0.93</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Zhou et al.</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CVPR 2021</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Collaborative seg + classification</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87.9</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0.83</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Liu et al.</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arXiv 2022</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Hybrid Transformer + CNN</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88.6</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0.85</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0.93</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tcPr>
                </a:tc>
                <a:extLst>
                  <a:ext uri="{0D108BD9-81ED-4DB2-BD59-A6C34878D82A}">
                    <a16:rowId xmlns:a16="http://schemas.microsoft.com/office/drawing/2014/main" val="10006"/>
                  </a:ext>
                </a:extLst>
              </a:tr>
              <a:tr h="420624">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ReGraNet (Ours)</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IEEE Conf.</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CNN + GNN + Transformer + Cross-Attn</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91.5 ↑</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0.91 ↑</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0.96 ↑</a:t>
                      </a:r>
                      <a:endParaRPr lang="en-US" sz="1100" dirty="0">
                        <a:latin typeface="Calibri" charset="0"/>
                        <a:ea typeface="Calibri" charset="0"/>
                        <a:cs typeface="Calibri" charset="0"/>
                      </a:endParaRPr>
                    </a:p>
                  </a:txBody>
                  <a:tcPr>
                    <a:lnL w="6350" cap="flat" cmpd="sng" algn="ctr">
                      <a:solidFill>
                        <a:srgbClr val="CCDDEE"/>
                      </a:solidFill>
                      <a:prstDash val="solid"/>
                      <a:round/>
                      <a:headEnd type="none" w="med" len="med"/>
                      <a:tailEnd type="none" w="med" len="med"/>
                    </a:lnL>
                    <a:lnR w="6350" cap="flat" cmpd="sng" algn="ctr">
                      <a:solidFill>
                        <a:srgbClr val="CCDDEE"/>
                      </a:solidFill>
                      <a:prstDash val="solid"/>
                      <a:round/>
                      <a:headEnd type="none" w="med" len="med"/>
                      <a:tailEnd type="none" w="med" len="med"/>
                    </a:lnR>
                    <a:lnT w="6350" cap="flat" cmpd="sng" algn="ctr">
                      <a:solidFill>
                        <a:srgbClr val="CCDDEE"/>
                      </a:solidFill>
                      <a:prstDash val="solid"/>
                      <a:round/>
                      <a:headEnd type="none" w="med" len="med"/>
                      <a:tailEnd type="none" w="med" len="med"/>
                    </a:lnT>
                    <a:lnB w="6350" cap="flat" cmpd="sng" algn="ctr">
                      <a:solidFill>
                        <a:srgbClr val="CCDDEE"/>
                      </a:solidFill>
                      <a:prstDash val="solid"/>
                      <a:round/>
                      <a:headEnd type="none" w="med" len="med"/>
                      <a:tailEnd type="none" w="med" len="med"/>
                    </a:lnB>
                    <a:solidFill>
                      <a:srgbClr val="02C39A"/>
                    </a:solidFill>
                  </a:tcPr>
                </a:tc>
                <a:extLst>
                  <a:ext uri="{0D108BD9-81ED-4DB2-BD59-A6C34878D82A}">
                    <a16:rowId xmlns:a16="http://schemas.microsoft.com/office/drawing/2014/main" val="10007"/>
                  </a:ext>
                </a:extLst>
              </a:tr>
            </a:tbl>
          </a:graphicData>
        </a:graphic>
      </p:graphicFrame>
      <p:sp>
        <p:nvSpPr>
          <p:cNvPr id="6" name="Text 3"/>
          <p:cNvSpPr/>
          <p:nvPr/>
        </p:nvSpPr>
        <p:spPr>
          <a:xfrm>
            <a:off x="457200" y="4389120"/>
            <a:ext cx="8229600" cy="292608"/>
          </a:xfrm>
          <a:prstGeom prst="rect">
            <a:avLst/>
          </a:prstGeom>
          <a:noFill/>
          <a:ln/>
        </p:spPr>
        <p:txBody>
          <a:bodyPr wrap="square"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Where ReGraNet outperforms most</a:t>
            </a:r>
            <a:endParaRPr lang="en-US" sz="1300" dirty="0"/>
          </a:p>
        </p:txBody>
      </p:sp>
      <p:sp>
        <p:nvSpPr>
          <p:cNvPr id="7" name="Text 4"/>
          <p:cNvSpPr/>
          <p:nvPr/>
        </p:nvSpPr>
        <p:spPr>
          <a:xfrm>
            <a:off x="502920" y="4389120"/>
            <a:ext cx="8138160" cy="100584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+2.9pp accuracy, +0.03 QWK over Liu et al. — the best prior hybrid method — from explicit vessel graph reasoning</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+4.1pp over Sun et al. Transformer approach — structural vascular topology adds unique discriminative signal</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First method to achieve QWK &gt; 0.95 on this benchmark, indicating near-clinical-grade ordinal accuracy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Explainability &amp; Clinical Interpretability</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Text 3"/>
          <p:cNvSpPr/>
          <p:nvPr/>
        </p:nvSpPr>
        <p:spPr>
          <a:xfrm>
            <a:off x="457200" y="960120"/>
            <a:ext cx="4114800" cy="292608"/>
          </a:xfrm>
          <a:prstGeom prst="rect">
            <a:avLst/>
          </a:prstGeom>
          <a:noFill/>
          <a:ln/>
        </p:spPr>
        <p:txBody>
          <a:bodyPr wrap="square" rtlCol="0" anchor="ctr"/>
          <a:lstStyle/>
          <a:p>
            <a:pPr marL="0" indent="0">
              <a:buNone/>
            </a:pPr>
            <a:r>
              <a:rPr lang="en-US" sz="1400" b="1" dirty="0">
                <a:solidFill>
                  <a:srgbClr val="0D7A8A"/>
                </a:solidFill>
                <a:latin typeface="Calibri" pitchFamily="34" charset="0"/>
                <a:ea typeface="Calibri" pitchFamily="34" charset="-122"/>
                <a:cs typeface="Calibri" pitchFamily="34" charset="-120"/>
              </a:rPr>
              <a:t>Grad-CAM (CNN Branch)</a:t>
            </a:r>
            <a:endParaRPr lang="en-US" sz="1400" dirty="0"/>
          </a:p>
        </p:txBody>
      </p:sp>
      <p:sp>
        <p:nvSpPr>
          <p:cNvPr id="6" name="Text 4"/>
          <p:cNvSpPr/>
          <p:nvPr/>
        </p:nvSpPr>
        <p:spPr>
          <a:xfrm>
            <a:off x="457200" y="1280160"/>
            <a:ext cx="4114800" cy="22860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Grade 0 (No DR): Attention on optic disc and major vascular arcades — confirms no pathology</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Grade 1–2 (Mild/Moderate): Tight localization around microaneurysms, dot-blot hemorrhages, hard exudates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Grade 3–4 (Severe/Proliferative): Highlights neovascularization and large hemorrhagic areas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Requires no explicit localization supervision — emerges automatically!</a:t>
            </a:r>
            <a:endParaRPr lang="en-US" sz="1300" dirty="0"/>
          </a:p>
        </p:txBody>
      </p:sp>
      <p:sp>
        <p:nvSpPr>
          <p:cNvPr id="7" name="Text 5"/>
          <p:cNvSpPr/>
          <p:nvPr/>
        </p:nvSpPr>
        <p:spPr>
          <a:xfrm>
            <a:off x="4754880" y="960120"/>
            <a:ext cx="3931920" cy="292608"/>
          </a:xfrm>
          <a:prstGeom prst="rect">
            <a:avLst/>
          </a:prstGeom>
          <a:noFill/>
          <a:ln/>
        </p:spPr>
        <p:txBody>
          <a:bodyPr wrap="square" rtlCol="0" anchor="ctr"/>
          <a:lstStyle/>
          <a:p>
            <a:pPr marL="0" indent="0">
              <a:buNone/>
            </a:pPr>
            <a:r>
              <a:rPr lang="en-US" sz="1400" b="1" dirty="0">
                <a:solidFill>
                  <a:srgbClr val="E67E22"/>
                </a:solidFill>
                <a:latin typeface="Calibri" pitchFamily="34" charset="0"/>
                <a:ea typeface="Calibri" pitchFamily="34" charset="-122"/>
                <a:cs typeface="Calibri" pitchFamily="34" charset="-120"/>
              </a:rPr>
              <a:t>Transformer Attention Rollout</a:t>
            </a:r>
            <a:endParaRPr lang="en-US" sz="1400" dirty="0"/>
          </a:p>
        </p:txBody>
      </p:sp>
      <p:sp>
        <p:nvSpPr>
          <p:cNvPr id="8" name="Text 6"/>
          <p:cNvSpPr/>
          <p:nvPr/>
        </p:nvSpPr>
        <p:spPr>
          <a:xfrm>
            <a:off x="4754880" y="1280160"/>
            <a:ext cx="3931920" cy="22860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Early stages (Grade 0–1): Attention localized to focal regions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Advanced stages (Grade 3–4): Attention expands across entire retina — reflects widespread pathology</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Distributed attention validates the global reasoning hypothesis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CLS token rollout aggregated across all 6 Transformer layers</a:t>
            </a:r>
            <a:endParaRPr lang="en-US" sz="1300" dirty="0"/>
          </a:p>
        </p:txBody>
      </p:sp>
      <p:sp>
        <p:nvSpPr>
          <p:cNvPr id="9" name="Shape 7"/>
          <p:cNvSpPr/>
          <p:nvPr/>
        </p:nvSpPr>
        <p:spPr>
          <a:xfrm>
            <a:off x="457200" y="3657600"/>
            <a:ext cx="8229600" cy="347472"/>
          </a:xfrm>
          <a:prstGeom prst="rect">
            <a:avLst/>
          </a:prstGeom>
          <a:solidFill>
            <a:srgbClr val="0A2540"/>
          </a:solidFill>
          <a:ln w="12700">
            <a:solidFill>
              <a:srgbClr val="0A2540"/>
            </a:solidFill>
            <a:prstDash val="solid"/>
          </a:ln>
        </p:spPr>
      </p:sp>
      <p:sp>
        <p:nvSpPr>
          <p:cNvPr id="10" name="Text 8"/>
          <p:cNvSpPr/>
          <p:nvPr/>
        </p:nvSpPr>
        <p:spPr>
          <a:xfrm>
            <a:off x="548640" y="3675888"/>
            <a:ext cx="3200400" cy="31089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Severity Grade Progression   →</a:t>
            </a:r>
            <a:endParaRPr lang="en-US" sz="1100" dirty="0"/>
          </a:p>
        </p:txBody>
      </p:sp>
      <p:sp>
        <p:nvSpPr>
          <p:cNvPr id="11" name="Shape 9"/>
          <p:cNvSpPr/>
          <p:nvPr/>
        </p:nvSpPr>
        <p:spPr>
          <a:xfrm>
            <a:off x="457200" y="4041648"/>
            <a:ext cx="1508760" cy="658368"/>
          </a:xfrm>
          <a:prstGeom prst="rect">
            <a:avLst/>
          </a:prstGeom>
          <a:solidFill>
            <a:srgbClr val="27AE60"/>
          </a:solidFill>
          <a:ln w="12700">
            <a:solidFill>
              <a:srgbClr val="27AE60"/>
            </a:solidFill>
            <a:prstDash val="solid"/>
          </a:ln>
        </p:spPr>
      </p:sp>
      <p:sp>
        <p:nvSpPr>
          <p:cNvPr id="12" name="Text 10"/>
          <p:cNvSpPr/>
          <p:nvPr/>
        </p:nvSpPr>
        <p:spPr>
          <a:xfrm>
            <a:off x="457200" y="4059936"/>
            <a:ext cx="150876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 DR</a:t>
            </a:r>
            <a:endParaRPr lang="en-US" sz="1100" dirty="0"/>
          </a:p>
        </p:txBody>
      </p:sp>
      <p:sp>
        <p:nvSpPr>
          <p:cNvPr id="13" name="Shape 11"/>
          <p:cNvSpPr/>
          <p:nvPr/>
        </p:nvSpPr>
        <p:spPr>
          <a:xfrm>
            <a:off x="2103120" y="4041648"/>
            <a:ext cx="1508760" cy="658368"/>
          </a:xfrm>
          <a:prstGeom prst="rect">
            <a:avLst/>
          </a:prstGeom>
          <a:solidFill>
            <a:srgbClr val="0D7A8A"/>
          </a:solidFill>
          <a:ln w="12700">
            <a:solidFill>
              <a:srgbClr val="0D7A8A"/>
            </a:solidFill>
            <a:prstDash val="solid"/>
          </a:ln>
        </p:spPr>
      </p:sp>
      <p:sp>
        <p:nvSpPr>
          <p:cNvPr id="14" name="Text 12"/>
          <p:cNvSpPr/>
          <p:nvPr/>
        </p:nvSpPr>
        <p:spPr>
          <a:xfrm>
            <a:off x="2103120" y="4059936"/>
            <a:ext cx="150876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Mild</a:t>
            </a:r>
            <a:endParaRPr lang="en-US" sz="1100" dirty="0"/>
          </a:p>
        </p:txBody>
      </p:sp>
      <p:sp>
        <p:nvSpPr>
          <p:cNvPr id="15" name="Shape 13"/>
          <p:cNvSpPr/>
          <p:nvPr/>
        </p:nvSpPr>
        <p:spPr>
          <a:xfrm>
            <a:off x="3749040" y="4041648"/>
            <a:ext cx="1508760" cy="658368"/>
          </a:xfrm>
          <a:prstGeom prst="rect">
            <a:avLst/>
          </a:prstGeom>
          <a:solidFill>
            <a:srgbClr val="E67E22"/>
          </a:solidFill>
          <a:ln w="12700">
            <a:solidFill>
              <a:srgbClr val="E67E22"/>
            </a:solidFill>
            <a:prstDash val="solid"/>
          </a:ln>
        </p:spPr>
      </p:sp>
      <p:sp>
        <p:nvSpPr>
          <p:cNvPr id="16" name="Text 14"/>
          <p:cNvSpPr/>
          <p:nvPr/>
        </p:nvSpPr>
        <p:spPr>
          <a:xfrm>
            <a:off x="3749040" y="4059936"/>
            <a:ext cx="150876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Moderate</a:t>
            </a:r>
            <a:endParaRPr lang="en-US" sz="1100" dirty="0"/>
          </a:p>
        </p:txBody>
      </p:sp>
      <p:sp>
        <p:nvSpPr>
          <p:cNvPr id="17" name="Shape 15"/>
          <p:cNvSpPr/>
          <p:nvPr/>
        </p:nvSpPr>
        <p:spPr>
          <a:xfrm>
            <a:off x="5394960" y="4041648"/>
            <a:ext cx="1508760" cy="658368"/>
          </a:xfrm>
          <a:prstGeom prst="rect">
            <a:avLst/>
          </a:prstGeom>
          <a:solidFill>
            <a:srgbClr val="E74C3C"/>
          </a:solidFill>
          <a:ln w="12700">
            <a:solidFill>
              <a:srgbClr val="E74C3C"/>
            </a:solidFill>
            <a:prstDash val="solid"/>
          </a:ln>
        </p:spPr>
      </p:sp>
      <p:sp>
        <p:nvSpPr>
          <p:cNvPr id="18" name="Text 16"/>
          <p:cNvSpPr/>
          <p:nvPr/>
        </p:nvSpPr>
        <p:spPr>
          <a:xfrm>
            <a:off x="5394960" y="4059936"/>
            <a:ext cx="150876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Severe</a:t>
            </a:r>
            <a:endParaRPr lang="en-US" sz="1100" dirty="0"/>
          </a:p>
        </p:txBody>
      </p:sp>
      <p:sp>
        <p:nvSpPr>
          <p:cNvPr id="19" name="Shape 17"/>
          <p:cNvSpPr/>
          <p:nvPr/>
        </p:nvSpPr>
        <p:spPr>
          <a:xfrm>
            <a:off x="7040880" y="4041648"/>
            <a:ext cx="1508760" cy="658368"/>
          </a:xfrm>
          <a:prstGeom prst="rect">
            <a:avLst/>
          </a:prstGeom>
          <a:solidFill>
            <a:srgbClr val="8E44AD"/>
          </a:solidFill>
          <a:ln w="12700">
            <a:solidFill>
              <a:srgbClr val="8E44AD"/>
            </a:solidFill>
            <a:prstDash val="solid"/>
          </a:ln>
        </p:spPr>
      </p:sp>
      <p:sp>
        <p:nvSpPr>
          <p:cNvPr id="20" name="Text 18"/>
          <p:cNvSpPr/>
          <p:nvPr/>
        </p:nvSpPr>
        <p:spPr>
          <a:xfrm>
            <a:off x="7040880" y="4059936"/>
            <a:ext cx="1508760" cy="62179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Proliferative</a:t>
            </a:r>
            <a:endParaRPr lang="en-US" sz="1100" dirty="0"/>
          </a:p>
        </p:txBody>
      </p:sp>
      <p:sp>
        <p:nvSpPr>
          <p:cNvPr id="21" name="Text 19"/>
          <p:cNvSpPr/>
          <p:nvPr/>
        </p:nvSpPr>
        <p:spPr>
          <a:xfrm>
            <a:off x="457200" y="4754880"/>
            <a:ext cx="8229600" cy="320040"/>
          </a:xfrm>
          <a:prstGeom prst="rect">
            <a:avLst/>
          </a:prstGeom>
          <a:noFill/>
          <a:ln/>
        </p:spPr>
        <p:txBody>
          <a:bodyPr wrap="square" rtlCol="0" anchor="ctr"/>
          <a:lstStyle/>
          <a:p>
            <a:pPr marL="0" indent="0">
              <a:buNone/>
            </a:pPr>
            <a:r>
              <a:rPr lang="en-US" sz="1100" i="1" dirty="0">
                <a:solidFill>
                  <a:srgbClr val="0D7A8A"/>
                </a:solidFill>
                <a:latin typeface="Calibri" pitchFamily="34" charset="0"/>
                <a:ea typeface="Calibri" pitchFamily="34" charset="-122"/>
                <a:cs typeface="Calibri" pitchFamily="34" charset="-120"/>
              </a:rPr>
              <a:t>Grad-CAM Focus: optic disc → focal spots → expanded lesions → widespread hemorrhage → diffuse neovascularization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573598-D47A-B35D-EA9A-511B7B16FE7E}"/>
              </a:ext>
            </a:extLst>
          </p:cNvPr>
          <p:cNvPicPr>
            <a:picLocks noChangeAspect="1"/>
          </p:cNvPicPr>
          <p:nvPr/>
        </p:nvPicPr>
        <p:blipFill>
          <a:blip r:embed="rId2"/>
          <a:stretch>
            <a:fillRect/>
          </a:stretch>
        </p:blipFill>
        <p:spPr>
          <a:xfrm>
            <a:off x="379828" y="703303"/>
            <a:ext cx="8468750" cy="3736893"/>
          </a:xfrm>
          <a:prstGeom prst="rect">
            <a:avLst/>
          </a:prstGeom>
        </p:spPr>
      </p:pic>
    </p:spTree>
    <p:extLst>
      <p:ext uri="{BB962C8B-B14F-4D97-AF65-F5344CB8AC3E}">
        <p14:creationId xmlns:p14="http://schemas.microsoft.com/office/powerpoint/2010/main" val="1348863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Training Dynamics &amp; Convergence</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Text 3"/>
          <p:cNvSpPr/>
          <p:nvPr/>
        </p:nvSpPr>
        <p:spPr>
          <a:xfrm>
            <a:off x="457200" y="914400"/>
            <a:ext cx="3931920" cy="27432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Classification Accuracy over Training</a:t>
            </a:r>
            <a:endParaRPr lang="en-US" sz="1200" dirty="0"/>
          </a:p>
        </p:txBody>
      </p:sp>
      <p:graphicFrame>
        <p:nvGraphicFramePr>
          <p:cNvPr id="6" name="Chart 0"/>
          <p:cNvGraphicFramePr/>
          <p:nvPr/>
        </p:nvGraphicFramePr>
        <p:xfrm>
          <a:off x="457200" y="1188720"/>
          <a:ext cx="393192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4754880" y="914400"/>
            <a:ext cx="3931920" cy="27432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Quadratic Weighted Kappa (QWK)</a:t>
            </a:r>
            <a:endParaRPr lang="en-US" sz="1200" dirty="0"/>
          </a:p>
        </p:txBody>
      </p:sp>
      <p:graphicFrame>
        <p:nvGraphicFramePr>
          <p:cNvPr id="8" name="Chart 1"/>
          <p:cNvGraphicFramePr/>
          <p:nvPr/>
        </p:nvGraphicFramePr>
        <p:xfrm>
          <a:off x="4754880" y="1188720"/>
          <a:ext cx="393192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457200" y="3584448"/>
            <a:ext cx="8229600" cy="292608"/>
          </a:xfrm>
          <a:prstGeom prst="rect">
            <a:avLst/>
          </a:prstGeom>
          <a:noFill/>
          <a:ln/>
        </p:spPr>
        <p:txBody>
          <a:bodyPr wrap="square"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Convergence Observations</a:t>
            </a:r>
            <a:endParaRPr lang="en-US" sz="1300" dirty="0"/>
          </a:p>
        </p:txBody>
      </p:sp>
      <p:sp>
        <p:nvSpPr>
          <p:cNvPr id="10" name="Text 6"/>
          <p:cNvSpPr/>
          <p:nvPr/>
        </p:nvSpPr>
        <p:spPr>
          <a:xfrm>
            <a:off x="502920" y="3904488"/>
            <a:ext cx="8138160" cy="1143000"/>
          </a:xfrm>
          <a:prstGeom prst="rect">
            <a:avLst/>
          </a:prstGeom>
          <a:noFill/>
          <a:ln/>
        </p:spPr>
        <p:txBody>
          <a:bodyPr wrap="square" rtlCol="0" anchor="ctr"/>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Training and validation curves closely track each other — no significant overfitting observed</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QWK shows rapid early improvement, reaching 0.85+ by epoch 10, peaking at 0.9718 at best checkpoint</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Accuracy surpasses 90% in final epochs; stable convergence from cosine annealing + warm-up scheduling</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Regularization (dropout + augmentation) maintains tight train/val gap throughout training</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Advantages &amp; Limitations</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Text 3"/>
          <p:cNvSpPr/>
          <p:nvPr/>
        </p:nvSpPr>
        <p:spPr>
          <a:xfrm>
            <a:off x="457200" y="960120"/>
            <a:ext cx="4114800" cy="292608"/>
          </a:xfrm>
          <a:prstGeom prst="rect">
            <a:avLst/>
          </a:prstGeom>
          <a:noFill/>
          <a:ln/>
        </p:spPr>
        <p:txBody>
          <a:bodyPr wrap="square" rtlCol="0" anchor="ctr"/>
          <a:lstStyle/>
          <a:p>
            <a:pPr marL="0" indent="0">
              <a:buNone/>
            </a:pPr>
            <a:r>
              <a:rPr lang="en-US" sz="1400" b="1" dirty="0">
                <a:solidFill>
                  <a:srgbClr val="0D7A8A"/>
                </a:solidFill>
                <a:latin typeface="Calibri" pitchFamily="34" charset="0"/>
                <a:ea typeface="Calibri" pitchFamily="34" charset="-122"/>
                <a:cs typeface="Calibri" pitchFamily="34" charset="-120"/>
              </a:rPr>
              <a:t>Strengths of ReGraNet</a:t>
            </a:r>
            <a:endParaRPr lang="en-US" sz="1400" dirty="0"/>
          </a:p>
        </p:txBody>
      </p:sp>
      <p:sp>
        <p:nvSpPr>
          <p:cNvPr id="6" name="Shape 4"/>
          <p:cNvSpPr/>
          <p:nvPr/>
        </p:nvSpPr>
        <p:spPr>
          <a:xfrm>
            <a:off x="457200" y="1325880"/>
            <a:ext cx="4114800" cy="438912"/>
          </a:xfrm>
          <a:prstGeom prst="rect">
            <a:avLst/>
          </a:prstGeom>
          <a:solidFill>
            <a:srgbClr val="F0F7FA"/>
          </a:solidFill>
          <a:ln w="6350">
            <a:solidFill>
              <a:srgbClr val="CCEECC"/>
            </a:solidFill>
            <a:prstDash val="solid"/>
          </a:ln>
        </p:spPr>
      </p:sp>
      <p:sp>
        <p:nvSpPr>
          <p:cNvPr id="7" name="Text 5"/>
          <p:cNvSpPr/>
          <p:nvPr/>
        </p:nvSpPr>
        <p:spPr>
          <a:xfrm>
            <a:off x="548640" y="1353312"/>
            <a:ext cx="3931920" cy="38404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State-of-the-art: 91.5% acc, 0.96 QWK on APTOS 2019</a:t>
            </a:r>
            <a:endParaRPr lang="en-US" sz="1200" dirty="0"/>
          </a:p>
        </p:txBody>
      </p:sp>
      <p:sp>
        <p:nvSpPr>
          <p:cNvPr id="8" name="Shape 6"/>
          <p:cNvSpPr/>
          <p:nvPr/>
        </p:nvSpPr>
        <p:spPr>
          <a:xfrm>
            <a:off x="457200" y="1828800"/>
            <a:ext cx="4114800" cy="438912"/>
          </a:xfrm>
          <a:prstGeom prst="rect">
            <a:avLst/>
          </a:prstGeom>
          <a:solidFill>
            <a:srgbClr val="FFFFFF"/>
          </a:solidFill>
          <a:ln w="6350">
            <a:solidFill>
              <a:srgbClr val="CCEECC"/>
            </a:solidFill>
            <a:prstDash val="solid"/>
          </a:ln>
        </p:spPr>
      </p:sp>
      <p:sp>
        <p:nvSpPr>
          <p:cNvPr id="9" name="Text 7"/>
          <p:cNvSpPr/>
          <p:nvPr/>
        </p:nvSpPr>
        <p:spPr>
          <a:xfrm>
            <a:off x="548640" y="1856232"/>
            <a:ext cx="3931920" cy="38404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Explicit anatomical reasoning via retinal vessel graphs</a:t>
            </a:r>
            <a:endParaRPr lang="en-US" sz="1200" dirty="0"/>
          </a:p>
        </p:txBody>
      </p:sp>
      <p:sp>
        <p:nvSpPr>
          <p:cNvPr id="10" name="Shape 8"/>
          <p:cNvSpPr/>
          <p:nvPr/>
        </p:nvSpPr>
        <p:spPr>
          <a:xfrm>
            <a:off x="457200" y="2331720"/>
            <a:ext cx="4114800" cy="438912"/>
          </a:xfrm>
          <a:prstGeom prst="rect">
            <a:avLst/>
          </a:prstGeom>
          <a:solidFill>
            <a:srgbClr val="F0F7FA"/>
          </a:solidFill>
          <a:ln w="6350">
            <a:solidFill>
              <a:srgbClr val="CCEECC"/>
            </a:solidFill>
            <a:prstDash val="solid"/>
          </a:ln>
        </p:spPr>
      </p:sp>
      <p:sp>
        <p:nvSpPr>
          <p:cNvPr id="11" name="Text 9"/>
          <p:cNvSpPr/>
          <p:nvPr/>
        </p:nvSpPr>
        <p:spPr>
          <a:xfrm>
            <a:off x="548640" y="2359152"/>
            <a:ext cx="3931920" cy="38404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Multi-scale: local lesions + vessel structure + global context</a:t>
            </a:r>
            <a:endParaRPr lang="en-US" sz="1200" dirty="0"/>
          </a:p>
        </p:txBody>
      </p:sp>
      <p:sp>
        <p:nvSpPr>
          <p:cNvPr id="12" name="Shape 10"/>
          <p:cNvSpPr/>
          <p:nvPr/>
        </p:nvSpPr>
        <p:spPr>
          <a:xfrm>
            <a:off x="457200" y="2834640"/>
            <a:ext cx="4114800" cy="438912"/>
          </a:xfrm>
          <a:prstGeom prst="rect">
            <a:avLst/>
          </a:prstGeom>
          <a:solidFill>
            <a:srgbClr val="FFFFFF"/>
          </a:solidFill>
          <a:ln w="6350">
            <a:solidFill>
              <a:srgbClr val="CCEECC"/>
            </a:solidFill>
            <a:prstDash val="solid"/>
          </a:ln>
        </p:spPr>
      </p:sp>
      <p:sp>
        <p:nvSpPr>
          <p:cNvPr id="13" name="Text 11"/>
          <p:cNvSpPr/>
          <p:nvPr/>
        </p:nvSpPr>
        <p:spPr>
          <a:xfrm>
            <a:off x="548640" y="2862072"/>
            <a:ext cx="3931920" cy="38404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Cross-attention enables mutual branch refinement</a:t>
            </a:r>
            <a:endParaRPr lang="en-US" sz="1200" dirty="0"/>
          </a:p>
        </p:txBody>
      </p:sp>
      <p:sp>
        <p:nvSpPr>
          <p:cNvPr id="14" name="Shape 12"/>
          <p:cNvSpPr/>
          <p:nvPr/>
        </p:nvSpPr>
        <p:spPr>
          <a:xfrm>
            <a:off x="457200" y="3337560"/>
            <a:ext cx="4114800" cy="438912"/>
          </a:xfrm>
          <a:prstGeom prst="rect">
            <a:avLst/>
          </a:prstGeom>
          <a:solidFill>
            <a:srgbClr val="F0F7FA"/>
          </a:solidFill>
          <a:ln w="6350">
            <a:solidFill>
              <a:srgbClr val="CCEECC"/>
            </a:solidFill>
            <a:prstDash val="solid"/>
          </a:ln>
        </p:spPr>
      </p:sp>
      <p:sp>
        <p:nvSpPr>
          <p:cNvPr id="15" name="Text 13"/>
          <p:cNvSpPr/>
          <p:nvPr/>
        </p:nvSpPr>
        <p:spPr>
          <a:xfrm>
            <a:off x="548640" y="3364992"/>
            <a:ext cx="3931920" cy="38404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Clinically interpretable Grad-CAM + attention maps</a:t>
            </a:r>
            <a:endParaRPr lang="en-US" sz="1200" dirty="0"/>
          </a:p>
        </p:txBody>
      </p:sp>
      <p:sp>
        <p:nvSpPr>
          <p:cNvPr id="16" name="Shape 14"/>
          <p:cNvSpPr/>
          <p:nvPr/>
        </p:nvSpPr>
        <p:spPr>
          <a:xfrm>
            <a:off x="457200" y="3840480"/>
            <a:ext cx="4114800" cy="438912"/>
          </a:xfrm>
          <a:prstGeom prst="rect">
            <a:avLst/>
          </a:prstGeom>
          <a:solidFill>
            <a:srgbClr val="FFFFFF"/>
          </a:solidFill>
          <a:ln w="6350">
            <a:solidFill>
              <a:srgbClr val="CCEECC"/>
            </a:solidFill>
            <a:prstDash val="solid"/>
          </a:ln>
        </p:spPr>
      </p:sp>
      <p:sp>
        <p:nvSpPr>
          <p:cNvPr id="17" name="Text 15"/>
          <p:cNvSpPr/>
          <p:nvPr/>
        </p:nvSpPr>
        <p:spPr>
          <a:xfrm>
            <a:off x="548640" y="3867912"/>
            <a:ext cx="3931920" cy="38404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Weighted loss + label smoothing handle class imbalance</a:t>
            </a:r>
            <a:endParaRPr lang="en-US" sz="1200" dirty="0"/>
          </a:p>
        </p:txBody>
      </p:sp>
      <p:sp>
        <p:nvSpPr>
          <p:cNvPr id="18" name="Text 16"/>
          <p:cNvSpPr/>
          <p:nvPr/>
        </p:nvSpPr>
        <p:spPr>
          <a:xfrm>
            <a:off x="4754880" y="960120"/>
            <a:ext cx="3931920" cy="292608"/>
          </a:xfrm>
          <a:prstGeom prst="rect">
            <a:avLst/>
          </a:prstGeom>
          <a:noFill/>
          <a:ln/>
        </p:spPr>
        <p:txBody>
          <a:bodyPr wrap="square" rtlCol="0" anchor="ctr"/>
          <a:lstStyle/>
          <a:p>
            <a:pPr marL="0" indent="0">
              <a:buNone/>
            </a:pPr>
            <a:r>
              <a:rPr lang="en-US" sz="1400" b="1" dirty="0">
                <a:solidFill>
                  <a:srgbClr val="E74C3C"/>
                </a:solidFill>
                <a:latin typeface="Calibri" pitchFamily="34" charset="0"/>
                <a:ea typeface="Calibri" pitchFamily="34" charset="-122"/>
                <a:cs typeface="Calibri" pitchFamily="34" charset="-120"/>
              </a:rPr>
              <a:t>Current Limitations</a:t>
            </a:r>
            <a:endParaRPr lang="en-US" sz="1400" dirty="0"/>
          </a:p>
        </p:txBody>
      </p:sp>
      <p:sp>
        <p:nvSpPr>
          <p:cNvPr id="19" name="Shape 17"/>
          <p:cNvSpPr/>
          <p:nvPr/>
        </p:nvSpPr>
        <p:spPr>
          <a:xfrm>
            <a:off x="4754880" y="1325880"/>
            <a:ext cx="3931920" cy="475488"/>
          </a:xfrm>
          <a:prstGeom prst="rect">
            <a:avLst/>
          </a:prstGeom>
          <a:solidFill>
            <a:srgbClr val="FFF5F5"/>
          </a:solidFill>
          <a:ln w="6350">
            <a:solidFill>
              <a:srgbClr val="FFCCCC"/>
            </a:solidFill>
            <a:prstDash val="solid"/>
          </a:ln>
        </p:spPr>
      </p:sp>
      <p:sp>
        <p:nvSpPr>
          <p:cNvPr id="20" name="Text 18"/>
          <p:cNvSpPr/>
          <p:nvPr/>
        </p:nvSpPr>
        <p:spPr>
          <a:xfrm>
            <a:off x="4846320" y="1353312"/>
            <a:ext cx="3749040" cy="42062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Mild DR recall of 0.80 — subtle early-stage changes remain challenging</a:t>
            </a:r>
            <a:endParaRPr lang="en-US" sz="1100" dirty="0"/>
          </a:p>
        </p:txBody>
      </p:sp>
      <p:sp>
        <p:nvSpPr>
          <p:cNvPr id="21" name="Shape 19"/>
          <p:cNvSpPr/>
          <p:nvPr/>
        </p:nvSpPr>
        <p:spPr>
          <a:xfrm>
            <a:off x="4754880" y="1874520"/>
            <a:ext cx="3931920" cy="475488"/>
          </a:xfrm>
          <a:prstGeom prst="rect">
            <a:avLst/>
          </a:prstGeom>
          <a:solidFill>
            <a:srgbClr val="FFFFFF"/>
          </a:solidFill>
          <a:ln w="6350">
            <a:solidFill>
              <a:srgbClr val="FFCCCC"/>
            </a:solidFill>
            <a:prstDash val="solid"/>
          </a:ln>
        </p:spPr>
      </p:sp>
      <p:sp>
        <p:nvSpPr>
          <p:cNvPr id="22" name="Text 20"/>
          <p:cNvSpPr/>
          <p:nvPr/>
        </p:nvSpPr>
        <p:spPr>
          <a:xfrm>
            <a:off x="4846320" y="1901952"/>
            <a:ext cx="3749040" cy="42062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Validated on single dataset (APTOS 2019) — multi-device generalization untested</a:t>
            </a:r>
            <a:endParaRPr lang="en-US" sz="1100" dirty="0"/>
          </a:p>
        </p:txBody>
      </p:sp>
      <p:sp>
        <p:nvSpPr>
          <p:cNvPr id="23" name="Shape 21"/>
          <p:cNvSpPr/>
          <p:nvPr/>
        </p:nvSpPr>
        <p:spPr>
          <a:xfrm>
            <a:off x="4754880" y="2423160"/>
            <a:ext cx="3931920" cy="475488"/>
          </a:xfrm>
          <a:prstGeom prst="rect">
            <a:avLst/>
          </a:prstGeom>
          <a:solidFill>
            <a:srgbClr val="FFF5F5"/>
          </a:solidFill>
          <a:ln w="6350">
            <a:solidFill>
              <a:srgbClr val="FFCCCC"/>
            </a:solidFill>
            <a:prstDash val="solid"/>
          </a:ln>
        </p:spPr>
      </p:sp>
      <p:sp>
        <p:nvSpPr>
          <p:cNvPr id="24" name="Text 22"/>
          <p:cNvSpPr/>
          <p:nvPr/>
        </p:nvSpPr>
        <p:spPr>
          <a:xfrm>
            <a:off x="4846320" y="2450592"/>
            <a:ext cx="3749040" cy="42062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Higher compute cost vs. single-branch models — 3 branches + graph construction</a:t>
            </a:r>
            <a:endParaRPr lang="en-US" sz="1100" dirty="0"/>
          </a:p>
        </p:txBody>
      </p:sp>
      <p:sp>
        <p:nvSpPr>
          <p:cNvPr id="25" name="Shape 23"/>
          <p:cNvSpPr/>
          <p:nvPr/>
        </p:nvSpPr>
        <p:spPr>
          <a:xfrm>
            <a:off x="4754880" y="2971800"/>
            <a:ext cx="3931920" cy="475488"/>
          </a:xfrm>
          <a:prstGeom prst="rect">
            <a:avLst/>
          </a:prstGeom>
          <a:solidFill>
            <a:srgbClr val="FFFFFF"/>
          </a:solidFill>
          <a:ln w="6350">
            <a:solidFill>
              <a:srgbClr val="FFCCCC"/>
            </a:solidFill>
            <a:prstDash val="solid"/>
          </a:ln>
        </p:spPr>
      </p:sp>
      <p:sp>
        <p:nvSpPr>
          <p:cNvPr id="26" name="Text 24"/>
          <p:cNvSpPr/>
          <p:nvPr/>
        </p:nvSpPr>
        <p:spPr>
          <a:xfrm>
            <a:off x="4846320" y="2999232"/>
            <a:ext cx="3749040" cy="42062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Frangi vessel segmentation may struggle with very low quality images</a:t>
            </a:r>
            <a:endParaRPr lang="en-US" sz="1100" dirty="0"/>
          </a:p>
        </p:txBody>
      </p:sp>
      <p:sp>
        <p:nvSpPr>
          <p:cNvPr id="27" name="Shape 25"/>
          <p:cNvSpPr/>
          <p:nvPr/>
        </p:nvSpPr>
        <p:spPr>
          <a:xfrm>
            <a:off x="4754880" y="3520440"/>
            <a:ext cx="3931920" cy="475488"/>
          </a:xfrm>
          <a:prstGeom prst="rect">
            <a:avLst/>
          </a:prstGeom>
          <a:solidFill>
            <a:srgbClr val="FFF5F5"/>
          </a:solidFill>
          <a:ln w="6350">
            <a:solidFill>
              <a:srgbClr val="FFCCCC"/>
            </a:solidFill>
            <a:prstDash val="solid"/>
          </a:ln>
        </p:spPr>
      </p:sp>
      <p:sp>
        <p:nvSpPr>
          <p:cNvPr id="28" name="Text 26"/>
          <p:cNvSpPr/>
          <p:nvPr/>
        </p:nvSpPr>
        <p:spPr>
          <a:xfrm>
            <a:off x="4846320" y="3547872"/>
            <a:ext cx="3749040" cy="42062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No prospective clinical validation on multi-ethnic populations yet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Applications &amp; Clinical Deployment</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457200" y="960120"/>
            <a:ext cx="4114800" cy="1691640"/>
          </a:xfrm>
          <a:prstGeom prst="rect">
            <a:avLst/>
          </a:prstGeom>
          <a:solidFill>
            <a:srgbClr val="F0F7FA"/>
          </a:solidFill>
          <a:ln w="25400">
            <a:solidFill>
              <a:srgbClr val="0D7A8A"/>
            </a:solidFill>
            <a:prstDash val="solid"/>
          </a:ln>
          <a:effectLst>
            <a:outerShdw blurRad="63500" dist="25400" dir="8100000" algn="bl" rotWithShape="0">
              <a:srgbClr val="000000">
                <a:alpha val="12000"/>
              </a:srgbClr>
            </a:outerShdw>
          </a:effectLst>
        </p:spPr>
      </p:sp>
      <p:sp>
        <p:nvSpPr>
          <p:cNvPr id="6" name="Shape 4"/>
          <p:cNvSpPr/>
          <p:nvPr/>
        </p:nvSpPr>
        <p:spPr>
          <a:xfrm>
            <a:off x="457200" y="960120"/>
            <a:ext cx="4114800" cy="457200"/>
          </a:xfrm>
          <a:prstGeom prst="rect">
            <a:avLst/>
          </a:prstGeom>
          <a:solidFill>
            <a:srgbClr val="0D7A8A"/>
          </a:solidFill>
          <a:ln w="12700">
            <a:solidFill>
              <a:srgbClr val="0D7A8A"/>
            </a:solidFill>
            <a:prstDash val="solid"/>
          </a:ln>
        </p:spPr>
      </p:sp>
      <p:sp>
        <p:nvSpPr>
          <p:cNvPr id="7" name="Text 5"/>
          <p:cNvSpPr/>
          <p:nvPr/>
        </p:nvSpPr>
        <p:spPr>
          <a:xfrm>
            <a:off x="548640" y="1051560"/>
            <a:ext cx="393192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Telemedicine Screening</a:t>
            </a:r>
            <a:endParaRPr lang="en-US" sz="1300" dirty="0"/>
          </a:p>
        </p:txBody>
      </p:sp>
      <p:sp>
        <p:nvSpPr>
          <p:cNvPr id="8" name="Text 6"/>
          <p:cNvSpPr/>
          <p:nvPr/>
        </p:nvSpPr>
        <p:spPr>
          <a:xfrm>
            <a:off x="548640" y="1508760"/>
            <a:ext cx="3931920" cy="10515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Cloud API: rural clinics upload fundus images → receive DR grade + attention heatmap in seconds</a:t>
            </a:r>
            <a:endParaRPr lang="en-US" sz="1200" dirty="0"/>
          </a:p>
        </p:txBody>
      </p:sp>
      <p:sp>
        <p:nvSpPr>
          <p:cNvPr id="9" name="Shape 7"/>
          <p:cNvSpPr/>
          <p:nvPr/>
        </p:nvSpPr>
        <p:spPr>
          <a:xfrm>
            <a:off x="4754880" y="960120"/>
            <a:ext cx="4114800" cy="1691640"/>
          </a:xfrm>
          <a:prstGeom prst="rect">
            <a:avLst/>
          </a:prstGeom>
          <a:solidFill>
            <a:srgbClr val="F0F7FA"/>
          </a:solidFill>
          <a:ln w="25400">
            <a:solidFill>
              <a:srgbClr val="8E44AD"/>
            </a:solidFill>
            <a:prstDash val="solid"/>
          </a:ln>
          <a:effectLst>
            <a:outerShdw blurRad="63500" dist="25400" dir="8100000" algn="bl" rotWithShape="0">
              <a:srgbClr val="000000">
                <a:alpha val="12000"/>
              </a:srgbClr>
            </a:outerShdw>
          </a:effectLst>
        </p:spPr>
      </p:sp>
      <p:sp>
        <p:nvSpPr>
          <p:cNvPr id="10" name="Shape 8"/>
          <p:cNvSpPr/>
          <p:nvPr/>
        </p:nvSpPr>
        <p:spPr>
          <a:xfrm>
            <a:off x="4754880" y="960120"/>
            <a:ext cx="4114800" cy="457200"/>
          </a:xfrm>
          <a:prstGeom prst="rect">
            <a:avLst/>
          </a:prstGeom>
          <a:solidFill>
            <a:srgbClr val="8E44AD"/>
          </a:solidFill>
          <a:ln w="12700">
            <a:solidFill>
              <a:srgbClr val="8E44AD"/>
            </a:solidFill>
            <a:prstDash val="solid"/>
          </a:ln>
        </p:spPr>
      </p:sp>
      <p:sp>
        <p:nvSpPr>
          <p:cNvPr id="11" name="Text 9"/>
          <p:cNvSpPr/>
          <p:nvPr/>
        </p:nvSpPr>
        <p:spPr>
          <a:xfrm>
            <a:off x="4846320" y="1051560"/>
            <a:ext cx="393192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Human-in-the-Loop</a:t>
            </a:r>
            <a:endParaRPr lang="en-US" sz="1300" dirty="0"/>
          </a:p>
        </p:txBody>
      </p:sp>
      <p:sp>
        <p:nvSpPr>
          <p:cNvPr id="12" name="Text 10"/>
          <p:cNvSpPr/>
          <p:nvPr/>
        </p:nvSpPr>
        <p:spPr>
          <a:xfrm>
            <a:off x="4846320" y="1508760"/>
            <a:ext cx="3931920" cy="10515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Grad-CAM heatmaps enable ophthalmologists to verify AI diagnoses — reducing grading time while maintaining oversight</a:t>
            </a:r>
            <a:endParaRPr lang="en-US" sz="1200" dirty="0"/>
          </a:p>
        </p:txBody>
      </p:sp>
      <p:sp>
        <p:nvSpPr>
          <p:cNvPr id="13" name="Shape 11"/>
          <p:cNvSpPr/>
          <p:nvPr/>
        </p:nvSpPr>
        <p:spPr>
          <a:xfrm>
            <a:off x="457200" y="2880360"/>
            <a:ext cx="4114800" cy="1691640"/>
          </a:xfrm>
          <a:prstGeom prst="rect">
            <a:avLst/>
          </a:prstGeom>
          <a:solidFill>
            <a:srgbClr val="F0F7FA"/>
          </a:solidFill>
          <a:ln w="25400">
            <a:solidFill>
              <a:srgbClr val="E67E22"/>
            </a:solidFill>
            <a:prstDash val="solid"/>
          </a:ln>
          <a:effectLst>
            <a:outerShdw blurRad="63500" dist="25400" dir="8100000" algn="bl" rotWithShape="0">
              <a:srgbClr val="000000">
                <a:alpha val="12000"/>
              </a:srgbClr>
            </a:outerShdw>
          </a:effectLst>
        </p:spPr>
      </p:sp>
      <p:sp>
        <p:nvSpPr>
          <p:cNvPr id="14" name="Shape 12"/>
          <p:cNvSpPr/>
          <p:nvPr/>
        </p:nvSpPr>
        <p:spPr>
          <a:xfrm>
            <a:off x="457200" y="2880360"/>
            <a:ext cx="4114800" cy="457200"/>
          </a:xfrm>
          <a:prstGeom prst="rect">
            <a:avLst/>
          </a:prstGeom>
          <a:solidFill>
            <a:srgbClr val="E67E22"/>
          </a:solidFill>
          <a:ln w="12700">
            <a:solidFill>
              <a:srgbClr val="E67E22"/>
            </a:solidFill>
            <a:prstDash val="solid"/>
          </a:ln>
        </p:spPr>
      </p:sp>
      <p:sp>
        <p:nvSpPr>
          <p:cNvPr id="15" name="Text 13"/>
          <p:cNvSpPr/>
          <p:nvPr/>
        </p:nvSpPr>
        <p:spPr>
          <a:xfrm>
            <a:off x="548640" y="2971800"/>
            <a:ext cx="393192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Population Screening</a:t>
            </a:r>
            <a:endParaRPr lang="en-US" sz="1300" dirty="0"/>
          </a:p>
        </p:txBody>
      </p:sp>
      <p:sp>
        <p:nvSpPr>
          <p:cNvPr id="16" name="Text 14"/>
          <p:cNvSpPr/>
          <p:nvPr/>
        </p:nvSpPr>
        <p:spPr>
          <a:xfrm>
            <a:off x="548640" y="3429000"/>
            <a:ext cx="3931920" cy="10515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0.99 recall for No DR + 0.98 specificity → excellent for high-volume screening with minimal false alarms</a:t>
            </a:r>
            <a:endParaRPr lang="en-US" sz="1200" dirty="0"/>
          </a:p>
        </p:txBody>
      </p:sp>
      <p:sp>
        <p:nvSpPr>
          <p:cNvPr id="17" name="Shape 15"/>
          <p:cNvSpPr/>
          <p:nvPr/>
        </p:nvSpPr>
        <p:spPr>
          <a:xfrm>
            <a:off x="4754880" y="2880360"/>
            <a:ext cx="4114800" cy="1691640"/>
          </a:xfrm>
          <a:prstGeom prst="rect">
            <a:avLst/>
          </a:prstGeom>
          <a:solidFill>
            <a:srgbClr val="F0F7FA"/>
          </a:solidFill>
          <a:ln w="25400">
            <a:solidFill>
              <a:srgbClr val="E74C3C"/>
            </a:solidFill>
            <a:prstDash val="solid"/>
          </a:ln>
          <a:effectLst>
            <a:outerShdw blurRad="63500" dist="25400" dir="8100000" algn="bl" rotWithShape="0">
              <a:srgbClr val="000000">
                <a:alpha val="12000"/>
              </a:srgbClr>
            </a:outerShdw>
          </a:effectLst>
        </p:spPr>
      </p:sp>
      <p:sp>
        <p:nvSpPr>
          <p:cNvPr id="18" name="Shape 16"/>
          <p:cNvSpPr/>
          <p:nvPr/>
        </p:nvSpPr>
        <p:spPr>
          <a:xfrm>
            <a:off x="4754880" y="2880360"/>
            <a:ext cx="4114800" cy="457200"/>
          </a:xfrm>
          <a:prstGeom prst="rect">
            <a:avLst/>
          </a:prstGeom>
          <a:solidFill>
            <a:srgbClr val="E74C3C"/>
          </a:solidFill>
          <a:ln w="12700">
            <a:solidFill>
              <a:srgbClr val="E74C3C"/>
            </a:solidFill>
            <a:prstDash val="solid"/>
          </a:ln>
        </p:spPr>
      </p:sp>
      <p:sp>
        <p:nvSpPr>
          <p:cNvPr id="19" name="Text 17"/>
          <p:cNvSpPr/>
          <p:nvPr/>
        </p:nvSpPr>
        <p:spPr>
          <a:xfrm>
            <a:off x="4846320" y="2971800"/>
            <a:ext cx="393192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Edge Deployment (Future)</a:t>
            </a:r>
            <a:endParaRPr lang="en-US" sz="1300" dirty="0"/>
          </a:p>
        </p:txBody>
      </p:sp>
      <p:sp>
        <p:nvSpPr>
          <p:cNvPr id="20" name="Text 18"/>
          <p:cNvSpPr/>
          <p:nvPr/>
        </p:nvSpPr>
        <p:spPr>
          <a:xfrm>
            <a:off x="4846320" y="3429000"/>
            <a:ext cx="3931920" cy="10515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Model quantization + knowledge distillation → lightweight variant for on-device inference without internet</a:t>
            </a:r>
            <a:endParaRPr lang="en-US" sz="1200" dirty="0"/>
          </a:p>
        </p:txBody>
      </p:sp>
      <p:sp>
        <p:nvSpPr>
          <p:cNvPr id="21" name="Shape 19"/>
          <p:cNvSpPr/>
          <p:nvPr/>
        </p:nvSpPr>
        <p:spPr>
          <a:xfrm>
            <a:off x="457200" y="4663440"/>
            <a:ext cx="8229600" cy="365760"/>
          </a:xfrm>
          <a:prstGeom prst="rect">
            <a:avLst/>
          </a:prstGeom>
          <a:solidFill>
            <a:srgbClr val="0A2540"/>
          </a:solidFill>
          <a:ln w="12700">
            <a:solidFill>
              <a:srgbClr val="0A2540"/>
            </a:solidFill>
            <a:prstDash val="solid"/>
          </a:ln>
        </p:spPr>
      </p:sp>
      <p:sp>
        <p:nvSpPr>
          <p:cNvPr id="22" name="Text 20"/>
          <p:cNvSpPr/>
          <p:nvPr/>
        </p:nvSpPr>
        <p:spPr>
          <a:xfrm>
            <a:off x="548640" y="4709160"/>
            <a:ext cx="8046720" cy="292608"/>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Deployment Readiness: DR grade output + visual explanation → supports regulatory trust, clinician confidence &amp; patient communication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457200" y="228600"/>
            <a:ext cx="8229600" cy="5943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4" name="Shape 2"/>
          <p:cNvSpPr/>
          <p:nvPr/>
        </p:nvSpPr>
        <p:spPr>
          <a:xfrm>
            <a:off x="457200" y="850392"/>
            <a:ext cx="8229600" cy="0"/>
          </a:xfrm>
          <a:prstGeom prst="line">
            <a:avLst/>
          </a:prstGeom>
          <a:noFill/>
          <a:ln w="12700">
            <a:solidFill>
              <a:srgbClr val="0D7A8A"/>
            </a:solidFill>
            <a:prstDash val="solid"/>
          </a:ln>
        </p:spPr>
      </p:sp>
      <p:sp>
        <p:nvSpPr>
          <p:cNvPr id="5" name="Shape 3"/>
          <p:cNvSpPr/>
          <p:nvPr/>
        </p:nvSpPr>
        <p:spPr>
          <a:xfrm>
            <a:off x="457200" y="960120"/>
            <a:ext cx="457200" cy="658368"/>
          </a:xfrm>
          <a:prstGeom prst="rect">
            <a:avLst/>
          </a:prstGeom>
          <a:solidFill>
            <a:srgbClr val="02C39A"/>
          </a:solidFill>
          <a:ln w="12700">
            <a:solidFill>
              <a:srgbClr val="02C39A"/>
            </a:solidFill>
            <a:prstDash val="solid"/>
          </a:ln>
        </p:spPr>
      </p:sp>
      <p:sp>
        <p:nvSpPr>
          <p:cNvPr id="6" name="Text 4"/>
          <p:cNvSpPr/>
          <p:nvPr/>
        </p:nvSpPr>
        <p:spPr>
          <a:xfrm>
            <a:off x="457200" y="978408"/>
            <a:ext cx="457200" cy="621792"/>
          </a:xfrm>
          <a:prstGeom prst="rect">
            <a:avLst/>
          </a:prstGeom>
          <a:noFill/>
          <a:ln/>
        </p:spPr>
        <p:txBody>
          <a:bodyPr wrap="square" rtlCol="0" anchor="ctr"/>
          <a:lstStyle/>
          <a:p>
            <a:pPr marL="0" indent="0" algn="ctr">
              <a:buNone/>
            </a:pPr>
            <a:r>
              <a:rPr lang="en-US" sz="1800" b="1" dirty="0">
                <a:solidFill>
                  <a:srgbClr val="0A2540"/>
                </a:solidFill>
                <a:latin typeface="Calibri" pitchFamily="34" charset="0"/>
                <a:ea typeface="Calibri" pitchFamily="34" charset="-122"/>
                <a:cs typeface="Calibri" pitchFamily="34" charset="-120"/>
              </a:rPr>
              <a:t>1</a:t>
            </a:r>
            <a:endParaRPr lang="en-US" sz="1800" dirty="0"/>
          </a:p>
        </p:txBody>
      </p:sp>
      <p:sp>
        <p:nvSpPr>
          <p:cNvPr id="7" name="Shape 5"/>
          <p:cNvSpPr/>
          <p:nvPr/>
        </p:nvSpPr>
        <p:spPr>
          <a:xfrm>
            <a:off x="1005840" y="960120"/>
            <a:ext cx="7680960" cy="658368"/>
          </a:xfrm>
          <a:prstGeom prst="rect">
            <a:avLst/>
          </a:prstGeom>
          <a:solidFill>
            <a:srgbClr val="0D2A40"/>
          </a:solidFill>
          <a:ln w="6350">
            <a:solidFill>
              <a:srgbClr val="1C4060"/>
            </a:solidFill>
            <a:prstDash val="solid"/>
          </a:ln>
        </p:spPr>
      </p:sp>
      <p:sp>
        <p:nvSpPr>
          <p:cNvPr id="8" name="Text 6"/>
          <p:cNvSpPr/>
          <p:nvPr/>
        </p:nvSpPr>
        <p:spPr>
          <a:xfrm>
            <a:off x="1097280" y="978408"/>
            <a:ext cx="7498080" cy="62179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Novel Architecture:  ReGraNet is the first unified CNN + GNN + Transformer framework for DR grading with bidirectional cross-attention</a:t>
            </a:r>
            <a:endParaRPr lang="en-US" sz="1200" dirty="0"/>
          </a:p>
        </p:txBody>
      </p:sp>
      <p:sp>
        <p:nvSpPr>
          <p:cNvPr id="9" name="Shape 7"/>
          <p:cNvSpPr/>
          <p:nvPr/>
        </p:nvSpPr>
        <p:spPr>
          <a:xfrm>
            <a:off x="457200" y="1728216"/>
            <a:ext cx="457200" cy="658368"/>
          </a:xfrm>
          <a:prstGeom prst="rect">
            <a:avLst/>
          </a:prstGeom>
          <a:solidFill>
            <a:srgbClr val="02C39A"/>
          </a:solidFill>
          <a:ln w="12700">
            <a:solidFill>
              <a:srgbClr val="02C39A"/>
            </a:solidFill>
            <a:prstDash val="solid"/>
          </a:ln>
        </p:spPr>
      </p:sp>
      <p:sp>
        <p:nvSpPr>
          <p:cNvPr id="10" name="Text 8"/>
          <p:cNvSpPr/>
          <p:nvPr/>
        </p:nvSpPr>
        <p:spPr>
          <a:xfrm>
            <a:off x="457200" y="1746504"/>
            <a:ext cx="457200" cy="621792"/>
          </a:xfrm>
          <a:prstGeom prst="rect">
            <a:avLst/>
          </a:prstGeom>
          <a:noFill/>
          <a:ln/>
        </p:spPr>
        <p:txBody>
          <a:bodyPr wrap="square" rtlCol="0" anchor="ctr"/>
          <a:lstStyle/>
          <a:p>
            <a:pPr marL="0" indent="0" algn="ctr">
              <a:buNone/>
            </a:pPr>
            <a:r>
              <a:rPr lang="en-US" sz="1800" b="1" dirty="0">
                <a:solidFill>
                  <a:srgbClr val="0A2540"/>
                </a:solidFill>
                <a:latin typeface="Calibri" pitchFamily="34" charset="0"/>
                <a:ea typeface="Calibri" pitchFamily="34" charset="-122"/>
                <a:cs typeface="Calibri" pitchFamily="34" charset="-120"/>
              </a:rPr>
              <a:t>2</a:t>
            </a:r>
            <a:endParaRPr lang="en-US" sz="1800" dirty="0"/>
          </a:p>
        </p:txBody>
      </p:sp>
      <p:sp>
        <p:nvSpPr>
          <p:cNvPr id="11" name="Shape 9"/>
          <p:cNvSpPr/>
          <p:nvPr/>
        </p:nvSpPr>
        <p:spPr>
          <a:xfrm>
            <a:off x="1005840" y="1728216"/>
            <a:ext cx="7680960" cy="658368"/>
          </a:xfrm>
          <a:prstGeom prst="rect">
            <a:avLst/>
          </a:prstGeom>
          <a:solidFill>
            <a:srgbClr val="0D2A40"/>
          </a:solidFill>
          <a:ln w="6350">
            <a:solidFill>
              <a:srgbClr val="1C4060"/>
            </a:solidFill>
            <a:prstDash val="solid"/>
          </a:ln>
        </p:spPr>
      </p:sp>
      <p:sp>
        <p:nvSpPr>
          <p:cNvPr id="12" name="Text 10"/>
          <p:cNvSpPr/>
          <p:nvPr/>
        </p:nvSpPr>
        <p:spPr>
          <a:xfrm>
            <a:off x="1097280" y="1746504"/>
            <a:ext cx="7498080" cy="62179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State-of-the-Art:  Achieves 91.5% accuracy and 0.96 QWK — best performance on APTOS 2019 benchmark, outperforming all compared methods</a:t>
            </a:r>
            <a:endParaRPr lang="en-US" sz="1200" dirty="0"/>
          </a:p>
        </p:txBody>
      </p:sp>
      <p:sp>
        <p:nvSpPr>
          <p:cNvPr id="13" name="Shape 11"/>
          <p:cNvSpPr/>
          <p:nvPr/>
        </p:nvSpPr>
        <p:spPr>
          <a:xfrm>
            <a:off x="457200" y="2496312"/>
            <a:ext cx="457200" cy="658368"/>
          </a:xfrm>
          <a:prstGeom prst="rect">
            <a:avLst/>
          </a:prstGeom>
          <a:solidFill>
            <a:srgbClr val="02C39A"/>
          </a:solidFill>
          <a:ln w="12700">
            <a:solidFill>
              <a:srgbClr val="02C39A"/>
            </a:solidFill>
            <a:prstDash val="solid"/>
          </a:ln>
        </p:spPr>
      </p:sp>
      <p:sp>
        <p:nvSpPr>
          <p:cNvPr id="14" name="Text 12"/>
          <p:cNvSpPr/>
          <p:nvPr/>
        </p:nvSpPr>
        <p:spPr>
          <a:xfrm>
            <a:off x="457200" y="2514600"/>
            <a:ext cx="457200" cy="621792"/>
          </a:xfrm>
          <a:prstGeom prst="rect">
            <a:avLst/>
          </a:prstGeom>
          <a:noFill/>
          <a:ln/>
        </p:spPr>
        <p:txBody>
          <a:bodyPr wrap="square" rtlCol="0" anchor="ctr"/>
          <a:lstStyle/>
          <a:p>
            <a:pPr marL="0" indent="0" algn="ctr">
              <a:buNone/>
            </a:pPr>
            <a:r>
              <a:rPr lang="en-US" sz="1800" b="1" dirty="0">
                <a:solidFill>
                  <a:srgbClr val="0A2540"/>
                </a:solidFill>
                <a:latin typeface="Calibri" pitchFamily="34" charset="0"/>
                <a:ea typeface="Calibri" pitchFamily="34" charset="-122"/>
                <a:cs typeface="Calibri" pitchFamily="34" charset="-120"/>
              </a:rPr>
              <a:t>3</a:t>
            </a:r>
            <a:endParaRPr lang="en-US" sz="1800" dirty="0"/>
          </a:p>
        </p:txBody>
      </p:sp>
      <p:sp>
        <p:nvSpPr>
          <p:cNvPr id="15" name="Shape 13"/>
          <p:cNvSpPr/>
          <p:nvPr/>
        </p:nvSpPr>
        <p:spPr>
          <a:xfrm>
            <a:off x="1005840" y="2496312"/>
            <a:ext cx="7680960" cy="658368"/>
          </a:xfrm>
          <a:prstGeom prst="rect">
            <a:avLst/>
          </a:prstGeom>
          <a:solidFill>
            <a:srgbClr val="0D2A40"/>
          </a:solidFill>
          <a:ln w="6350">
            <a:solidFill>
              <a:srgbClr val="1C4060"/>
            </a:solidFill>
            <a:prstDash val="solid"/>
          </a:ln>
        </p:spPr>
      </p:sp>
      <p:sp>
        <p:nvSpPr>
          <p:cNvPr id="16" name="Text 14"/>
          <p:cNvSpPr/>
          <p:nvPr/>
        </p:nvSpPr>
        <p:spPr>
          <a:xfrm>
            <a:off x="1097280" y="2514600"/>
            <a:ext cx="7498080" cy="62179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Complementary Fusion:  Each branch contributes unique information: local lesions (CNN), vessel topology (GNN), global context (Transformer)</a:t>
            </a:r>
            <a:endParaRPr lang="en-US" sz="1200" dirty="0"/>
          </a:p>
        </p:txBody>
      </p:sp>
      <p:sp>
        <p:nvSpPr>
          <p:cNvPr id="17" name="Shape 15"/>
          <p:cNvSpPr/>
          <p:nvPr/>
        </p:nvSpPr>
        <p:spPr>
          <a:xfrm>
            <a:off x="457200" y="3264408"/>
            <a:ext cx="457200" cy="658368"/>
          </a:xfrm>
          <a:prstGeom prst="rect">
            <a:avLst/>
          </a:prstGeom>
          <a:solidFill>
            <a:srgbClr val="02C39A"/>
          </a:solidFill>
          <a:ln w="12700">
            <a:solidFill>
              <a:srgbClr val="02C39A"/>
            </a:solidFill>
            <a:prstDash val="solid"/>
          </a:ln>
        </p:spPr>
      </p:sp>
      <p:sp>
        <p:nvSpPr>
          <p:cNvPr id="18" name="Text 16"/>
          <p:cNvSpPr/>
          <p:nvPr/>
        </p:nvSpPr>
        <p:spPr>
          <a:xfrm>
            <a:off x="457200" y="3282696"/>
            <a:ext cx="457200" cy="621792"/>
          </a:xfrm>
          <a:prstGeom prst="rect">
            <a:avLst/>
          </a:prstGeom>
          <a:noFill/>
          <a:ln/>
        </p:spPr>
        <p:txBody>
          <a:bodyPr wrap="square" rtlCol="0" anchor="ctr"/>
          <a:lstStyle/>
          <a:p>
            <a:pPr marL="0" indent="0" algn="ctr">
              <a:buNone/>
            </a:pPr>
            <a:r>
              <a:rPr lang="en-US" sz="1800" b="1" dirty="0">
                <a:solidFill>
                  <a:srgbClr val="0A2540"/>
                </a:solidFill>
                <a:latin typeface="Calibri" pitchFamily="34" charset="0"/>
                <a:ea typeface="Calibri" pitchFamily="34" charset="-122"/>
                <a:cs typeface="Calibri" pitchFamily="34" charset="-120"/>
              </a:rPr>
              <a:t>4</a:t>
            </a:r>
            <a:endParaRPr lang="en-US" sz="1800" dirty="0"/>
          </a:p>
        </p:txBody>
      </p:sp>
      <p:sp>
        <p:nvSpPr>
          <p:cNvPr id="19" name="Shape 17"/>
          <p:cNvSpPr/>
          <p:nvPr/>
        </p:nvSpPr>
        <p:spPr>
          <a:xfrm>
            <a:off x="1005840" y="3264408"/>
            <a:ext cx="7680960" cy="658368"/>
          </a:xfrm>
          <a:prstGeom prst="rect">
            <a:avLst/>
          </a:prstGeom>
          <a:solidFill>
            <a:srgbClr val="0D2A40"/>
          </a:solidFill>
          <a:ln w="6350">
            <a:solidFill>
              <a:srgbClr val="1C4060"/>
            </a:solidFill>
            <a:prstDash val="solid"/>
          </a:ln>
        </p:spPr>
      </p:sp>
      <p:sp>
        <p:nvSpPr>
          <p:cNvPr id="20" name="Text 18"/>
          <p:cNvSpPr/>
          <p:nvPr/>
        </p:nvSpPr>
        <p:spPr>
          <a:xfrm>
            <a:off x="1097280" y="3282696"/>
            <a:ext cx="7498080" cy="62179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Clinical Interpretability:  Grad-CAM + attention maps validate clinically meaningful decision regions without explicit localization supervision</a:t>
            </a:r>
            <a:endParaRPr lang="en-US" sz="1200" dirty="0"/>
          </a:p>
        </p:txBody>
      </p:sp>
      <p:sp>
        <p:nvSpPr>
          <p:cNvPr id="21" name="Shape 19"/>
          <p:cNvSpPr/>
          <p:nvPr/>
        </p:nvSpPr>
        <p:spPr>
          <a:xfrm>
            <a:off x="457200" y="4032504"/>
            <a:ext cx="457200" cy="658368"/>
          </a:xfrm>
          <a:prstGeom prst="rect">
            <a:avLst/>
          </a:prstGeom>
          <a:solidFill>
            <a:srgbClr val="02C39A"/>
          </a:solidFill>
          <a:ln w="12700">
            <a:solidFill>
              <a:srgbClr val="02C39A"/>
            </a:solidFill>
            <a:prstDash val="solid"/>
          </a:ln>
        </p:spPr>
      </p:sp>
      <p:sp>
        <p:nvSpPr>
          <p:cNvPr id="22" name="Text 20"/>
          <p:cNvSpPr/>
          <p:nvPr/>
        </p:nvSpPr>
        <p:spPr>
          <a:xfrm>
            <a:off x="457200" y="4050792"/>
            <a:ext cx="457200" cy="621792"/>
          </a:xfrm>
          <a:prstGeom prst="rect">
            <a:avLst/>
          </a:prstGeom>
          <a:noFill/>
          <a:ln/>
        </p:spPr>
        <p:txBody>
          <a:bodyPr wrap="square" rtlCol="0" anchor="ctr"/>
          <a:lstStyle/>
          <a:p>
            <a:pPr marL="0" indent="0" algn="ctr">
              <a:buNone/>
            </a:pPr>
            <a:r>
              <a:rPr lang="en-US" sz="1800" b="1" dirty="0">
                <a:solidFill>
                  <a:srgbClr val="0A2540"/>
                </a:solidFill>
                <a:latin typeface="Calibri" pitchFamily="34" charset="0"/>
                <a:ea typeface="Calibri" pitchFamily="34" charset="-122"/>
                <a:cs typeface="Calibri" pitchFamily="34" charset="-120"/>
              </a:rPr>
              <a:t>5</a:t>
            </a:r>
            <a:endParaRPr lang="en-US" sz="1800" dirty="0"/>
          </a:p>
        </p:txBody>
      </p:sp>
      <p:sp>
        <p:nvSpPr>
          <p:cNvPr id="23" name="Shape 21"/>
          <p:cNvSpPr/>
          <p:nvPr/>
        </p:nvSpPr>
        <p:spPr>
          <a:xfrm>
            <a:off x="1005840" y="4032504"/>
            <a:ext cx="7680960" cy="658368"/>
          </a:xfrm>
          <a:prstGeom prst="rect">
            <a:avLst/>
          </a:prstGeom>
          <a:solidFill>
            <a:srgbClr val="0D2A40"/>
          </a:solidFill>
          <a:ln w="6350">
            <a:solidFill>
              <a:srgbClr val="1C4060"/>
            </a:solidFill>
            <a:prstDash val="solid"/>
          </a:ln>
        </p:spPr>
      </p:sp>
      <p:sp>
        <p:nvSpPr>
          <p:cNvPr id="24" name="Text 22"/>
          <p:cNvSpPr/>
          <p:nvPr/>
        </p:nvSpPr>
        <p:spPr>
          <a:xfrm>
            <a:off x="1097280" y="4050792"/>
            <a:ext cx="7498080" cy="62179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Deployment Ready:  Human-in-the-loop design with visual explanations supports real-world clinical workflow integration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54864" cy="594360"/>
          </a:xfrm>
          <a:prstGeom prst="rect">
            <a:avLst/>
          </a:prstGeom>
          <a:solidFill>
            <a:srgbClr val="02C39A"/>
          </a:solidFill>
          <a:ln w="12700">
            <a:solidFill>
              <a:srgbClr val="02C39A"/>
            </a:solidFill>
            <a:prstDash val="solid"/>
          </a:ln>
        </p:spPr>
      </p:sp>
      <p:sp>
        <p:nvSpPr>
          <p:cNvPr id="3" name="Text 1"/>
          <p:cNvSpPr/>
          <p:nvPr/>
        </p:nvSpPr>
        <p:spPr>
          <a:xfrm>
            <a:off x="594360" y="201168"/>
            <a:ext cx="8092440" cy="594360"/>
          </a:xfrm>
          <a:prstGeom prst="rect">
            <a:avLst/>
          </a:prstGeom>
          <a:noFill/>
          <a:ln/>
        </p:spPr>
        <p:txBody>
          <a:bodyPr wrap="square" lIns="0" tIns="0" rIns="0" bIns="0" rtlCol="0" anchor="ctr"/>
          <a:lstStyle/>
          <a:p>
            <a:pPr marL="0" indent="0" algn="l">
              <a:buNone/>
            </a:pPr>
            <a:r>
              <a:rPr lang="en-US" sz="2600" b="1" dirty="0">
                <a:solidFill>
                  <a:srgbClr val="0A2540"/>
                </a:solidFill>
                <a:latin typeface="Calibri" pitchFamily="34" charset="0"/>
                <a:ea typeface="Calibri" pitchFamily="34" charset="-122"/>
                <a:cs typeface="Calibri" pitchFamily="34" charset="-120"/>
              </a:rPr>
              <a:t>Future Work</a:t>
            </a:r>
            <a:endParaRPr lang="en-US" sz="2600" dirty="0"/>
          </a:p>
        </p:txBody>
      </p:sp>
      <p:sp>
        <p:nvSpPr>
          <p:cNvPr id="4" name="Shape 2"/>
          <p:cNvSpPr/>
          <p:nvPr/>
        </p:nvSpPr>
        <p:spPr>
          <a:xfrm>
            <a:off x="457200" y="822960"/>
            <a:ext cx="8229600" cy="0"/>
          </a:xfrm>
          <a:prstGeom prst="line">
            <a:avLst/>
          </a:prstGeom>
          <a:noFill/>
          <a:ln w="12700">
            <a:solidFill>
              <a:srgbClr val="0D7A8A"/>
            </a:solidFill>
            <a:prstDash val="solid"/>
          </a:ln>
        </p:spPr>
      </p:sp>
      <p:sp>
        <p:nvSpPr>
          <p:cNvPr id="5" name="Shape 3"/>
          <p:cNvSpPr/>
          <p:nvPr/>
        </p:nvSpPr>
        <p:spPr>
          <a:xfrm>
            <a:off x="457200" y="960120"/>
            <a:ext cx="2697480" cy="1783080"/>
          </a:xfrm>
          <a:prstGeom prst="rect">
            <a:avLst/>
          </a:prstGeom>
          <a:solidFill>
            <a:srgbClr val="F0F7FA"/>
          </a:solidFill>
          <a:ln w="19050">
            <a:solidFill>
              <a:srgbClr val="0D7A8A"/>
            </a:solidFill>
            <a:prstDash val="solid"/>
          </a:ln>
          <a:effectLst>
            <a:outerShdw blurRad="63500" dist="25400" dir="8100000" algn="bl" rotWithShape="0">
              <a:srgbClr val="000000">
                <a:alpha val="12000"/>
              </a:srgbClr>
            </a:outerShdw>
          </a:effectLst>
        </p:spPr>
      </p:sp>
      <p:sp>
        <p:nvSpPr>
          <p:cNvPr id="6" name="Shape 4"/>
          <p:cNvSpPr/>
          <p:nvPr/>
        </p:nvSpPr>
        <p:spPr>
          <a:xfrm>
            <a:off x="457200" y="960120"/>
            <a:ext cx="2697480" cy="411480"/>
          </a:xfrm>
          <a:prstGeom prst="rect">
            <a:avLst/>
          </a:prstGeom>
          <a:solidFill>
            <a:srgbClr val="0D7A8A"/>
          </a:solidFill>
          <a:ln w="12700">
            <a:solidFill>
              <a:srgbClr val="0D7A8A"/>
            </a:solidFill>
            <a:prstDash val="solid"/>
          </a:ln>
        </p:spPr>
      </p:sp>
      <p:sp>
        <p:nvSpPr>
          <p:cNvPr id="7" name="Text 5"/>
          <p:cNvSpPr/>
          <p:nvPr/>
        </p:nvSpPr>
        <p:spPr>
          <a:xfrm>
            <a:off x="530352" y="1024128"/>
            <a:ext cx="2542032"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Self-Supervised Pretraining</a:t>
            </a:r>
            <a:endParaRPr lang="en-US" sz="1100" dirty="0"/>
          </a:p>
        </p:txBody>
      </p:sp>
      <p:sp>
        <p:nvSpPr>
          <p:cNvPr id="8" name="Text 6"/>
          <p:cNvSpPr/>
          <p:nvPr/>
        </p:nvSpPr>
        <p:spPr>
          <a:xfrm>
            <a:off x="548640" y="1435608"/>
            <a:ext cx="251460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Leverage large unlabeled retinal repositories (e.g., EyePACS) to improve Mild DR detection and reduce dependency on labeled data</a:t>
            </a:r>
            <a:endParaRPr lang="en-US" sz="1000" dirty="0"/>
          </a:p>
        </p:txBody>
      </p:sp>
      <p:sp>
        <p:nvSpPr>
          <p:cNvPr id="9" name="Shape 7"/>
          <p:cNvSpPr/>
          <p:nvPr/>
        </p:nvSpPr>
        <p:spPr>
          <a:xfrm>
            <a:off x="3429000" y="960120"/>
            <a:ext cx="2697480" cy="1783080"/>
          </a:xfrm>
          <a:prstGeom prst="rect">
            <a:avLst/>
          </a:prstGeom>
          <a:solidFill>
            <a:srgbClr val="F0F7FA"/>
          </a:solidFill>
          <a:ln w="19050">
            <a:solidFill>
              <a:srgbClr val="8E44AD"/>
            </a:solidFill>
            <a:prstDash val="solid"/>
          </a:ln>
          <a:effectLst>
            <a:outerShdw blurRad="63500" dist="25400" dir="8100000" algn="bl" rotWithShape="0">
              <a:srgbClr val="000000">
                <a:alpha val="12000"/>
              </a:srgbClr>
            </a:outerShdw>
          </a:effectLst>
        </p:spPr>
      </p:sp>
      <p:sp>
        <p:nvSpPr>
          <p:cNvPr id="10" name="Shape 8"/>
          <p:cNvSpPr/>
          <p:nvPr/>
        </p:nvSpPr>
        <p:spPr>
          <a:xfrm>
            <a:off x="3429000" y="960120"/>
            <a:ext cx="2697480" cy="411480"/>
          </a:xfrm>
          <a:prstGeom prst="rect">
            <a:avLst/>
          </a:prstGeom>
          <a:solidFill>
            <a:srgbClr val="8E44AD"/>
          </a:solidFill>
          <a:ln w="12700">
            <a:solidFill>
              <a:srgbClr val="8E44AD"/>
            </a:solidFill>
            <a:prstDash val="solid"/>
          </a:ln>
        </p:spPr>
      </p:sp>
      <p:sp>
        <p:nvSpPr>
          <p:cNvPr id="11" name="Text 9"/>
          <p:cNvSpPr/>
          <p:nvPr/>
        </p:nvSpPr>
        <p:spPr>
          <a:xfrm>
            <a:off x="3502152" y="1024128"/>
            <a:ext cx="2542032"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Multi-Modal Imaging</a:t>
            </a:r>
            <a:endParaRPr lang="en-US" sz="1100" dirty="0"/>
          </a:p>
        </p:txBody>
      </p:sp>
      <p:sp>
        <p:nvSpPr>
          <p:cNvPr id="12" name="Text 10"/>
          <p:cNvSpPr/>
          <p:nvPr/>
        </p:nvSpPr>
        <p:spPr>
          <a:xfrm>
            <a:off x="3520440" y="1435608"/>
            <a:ext cx="251460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Integrate OCT (Optical Coherence Tomography) scans for 3D retinal layer analysis alongside 2D fundus photography</a:t>
            </a:r>
            <a:endParaRPr lang="en-US" sz="1000" dirty="0"/>
          </a:p>
        </p:txBody>
      </p:sp>
      <p:sp>
        <p:nvSpPr>
          <p:cNvPr id="13" name="Shape 11"/>
          <p:cNvSpPr/>
          <p:nvPr/>
        </p:nvSpPr>
        <p:spPr>
          <a:xfrm>
            <a:off x="6393766" y="960120"/>
            <a:ext cx="2697480" cy="1783080"/>
          </a:xfrm>
          <a:prstGeom prst="rect">
            <a:avLst/>
          </a:prstGeom>
          <a:solidFill>
            <a:srgbClr val="F0F7FA"/>
          </a:solidFill>
          <a:ln w="19050">
            <a:solidFill>
              <a:srgbClr val="E67E22"/>
            </a:solidFill>
            <a:prstDash val="solid"/>
          </a:ln>
          <a:effectLst>
            <a:outerShdw blurRad="63500" dist="25400" dir="8100000" algn="bl" rotWithShape="0">
              <a:srgbClr val="000000">
                <a:alpha val="12000"/>
              </a:srgbClr>
            </a:outerShdw>
          </a:effectLst>
        </p:spPr>
      </p:sp>
      <p:sp>
        <p:nvSpPr>
          <p:cNvPr id="14" name="Shape 12"/>
          <p:cNvSpPr/>
          <p:nvPr/>
        </p:nvSpPr>
        <p:spPr>
          <a:xfrm>
            <a:off x="6400800" y="960120"/>
            <a:ext cx="2697480" cy="411480"/>
          </a:xfrm>
          <a:prstGeom prst="rect">
            <a:avLst/>
          </a:prstGeom>
          <a:solidFill>
            <a:srgbClr val="E67E22"/>
          </a:solidFill>
          <a:ln w="12700">
            <a:solidFill>
              <a:srgbClr val="E67E22"/>
            </a:solidFill>
            <a:prstDash val="solid"/>
          </a:ln>
        </p:spPr>
      </p:sp>
      <p:sp>
        <p:nvSpPr>
          <p:cNvPr id="15" name="Text 13"/>
          <p:cNvSpPr/>
          <p:nvPr/>
        </p:nvSpPr>
        <p:spPr>
          <a:xfrm>
            <a:off x="6473952" y="1024128"/>
            <a:ext cx="2542032"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Higher Resolution Inputs</a:t>
            </a:r>
            <a:endParaRPr lang="en-US" sz="1100" dirty="0"/>
          </a:p>
        </p:txBody>
      </p:sp>
      <p:sp>
        <p:nvSpPr>
          <p:cNvPr id="16" name="Text 14"/>
          <p:cNvSpPr/>
          <p:nvPr/>
        </p:nvSpPr>
        <p:spPr>
          <a:xfrm>
            <a:off x="6492240" y="1435608"/>
            <a:ext cx="251460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Explore 1024×1024 inputs to better resolve subtle early-stage microaneurysms that currently contribute to Mild DR misclassification</a:t>
            </a:r>
            <a:endParaRPr lang="en-US" sz="1000" dirty="0"/>
          </a:p>
        </p:txBody>
      </p:sp>
      <p:sp>
        <p:nvSpPr>
          <p:cNvPr id="17" name="Shape 15"/>
          <p:cNvSpPr/>
          <p:nvPr/>
        </p:nvSpPr>
        <p:spPr>
          <a:xfrm>
            <a:off x="457200" y="2926080"/>
            <a:ext cx="2697480" cy="1783080"/>
          </a:xfrm>
          <a:prstGeom prst="rect">
            <a:avLst/>
          </a:prstGeom>
          <a:solidFill>
            <a:srgbClr val="F0F7FA"/>
          </a:solidFill>
          <a:ln w="19050">
            <a:solidFill>
              <a:srgbClr val="E74C3C"/>
            </a:solidFill>
            <a:prstDash val="solid"/>
          </a:ln>
          <a:effectLst>
            <a:outerShdw blurRad="63500" dist="25400" dir="8100000" algn="bl" rotWithShape="0">
              <a:srgbClr val="000000">
                <a:alpha val="12000"/>
              </a:srgbClr>
            </a:outerShdw>
          </a:effectLst>
        </p:spPr>
      </p:sp>
      <p:sp>
        <p:nvSpPr>
          <p:cNvPr id="18" name="Shape 16"/>
          <p:cNvSpPr/>
          <p:nvPr/>
        </p:nvSpPr>
        <p:spPr>
          <a:xfrm>
            <a:off x="457200" y="2926080"/>
            <a:ext cx="2697480" cy="411480"/>
          </a:xfrm>
          <a:prstGeom prst="rect">
            <a:avLst/>
          </a:prstGeom>
          <a:solidFill>
            <a:srgbClr val="E74C3C"/>
          </a:solidFill>
          <a:ln w="12700">
            <a:solidFill>
              <a:srgbClr val="E74C3C"/>
            </a:solidFill>
            <a:prstDash val="solid"/>
          </a:ln>
        </p:spPr>
      </p:sp>
      <p:sp>
        <p:nvSpPr>
          <p:cNvPr id="19" name="Text 17"/>
          <p:cNvSpPr/>
          <p:nvPr/>
        </p:nvSpPr>
        <p:spPr>
          <a:xfrm>
            <a:off x="530352" y="2990088"/>
            <a:ext cx="2542032"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Edge Deployment</a:t>
            </a:r>
            <a:endParaRPr lang="en-US" sz="1100" dirty="0"/>
          </a:p>
        </p:txBody>
      </p:sp>
      <p:sp>
        <p:nvSpPr>
          <p:cNvPr id="20" name="Text 18"/>
          <p:cNvSpPr/>
          <p:nvPr/>
        </p:nvSpPr>
        <p:spPr>
          <a:xfrm>
            <a:off x="548640" y="3401568"/>
            <a:ext cx="251460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Model quantization + knowledge distillation → lightweight ReGraNet for on-device inference in low-connectivity rural clinics</a:t>
            </a:r>
            <a:endParaRPr lang="en-US" sz="1000" dirty="0"/>
          </a:p>
        </p:txBody>
      </p:sp>
      <p:sp>
        <p:nvSpPr>
          <p:cNvPr id="21" name="Shape 19"/>
          <p:cNvSpPr/>
          <p:nvPr/>
        </p:nvSpPr>
        <p:spPr>
          <a:xfrm>
            <a:off x="3429000" y="2926080"/>
            <a:ext cx="2697480" cy="1783080"/>
          </a:xfrm>
          <a:prstGeom prst="rect">
            <a:avLst/>
          </a:prstGeom>
          <a:solidFill>
            <a:srgbClr val="F0F7FA"/>
          </a:solidFill>
          <a:ln w="19050">
            <a:solidFill>
              <a:srgbClr val="0A2540"/>
            </a:solidFill>
            <a:prstDash val="solid"/>
          </a:ln>
          <a:effectLst>
            <a:outerShdw blurRad="63500" dist="25400" dir="8100000" algn="bl" rotWithShape="0">
              <a:srgbClr val="000000">
                <a:alpha val="12000"/>
              </a:srgbClr>
            </a:outerShdw>
          </a:effectLst>
        </p:spPr>
      </p:sp>
      <p:sp>
        <p:nvSpPr>
          <p:cNvPr id="22" name="Shape 20"/>
          <p:cNvSpPr/>
          <p:nvPr/>
        </p:nvSpPr>
        <p:spPr>
          <a:xfrm>
            <a:off x="3429000" y="2926080"/>
            <a:ext cx="2697480" cy="411480"/>
          </a:xfrm>
          <a:prstGeom prst="rect">
            <a:avLst/>
          </a:prstGeom>
          <a:solidFill>
            <a:srgbClr val="0A2540"/>
          </a:solidFill>
          <a:ln w="12700">
            <a:solidFill>
              <a:srgbClr val="0A2540"/>
            </a:solidFill>
            <a:prstDash val="solid"/>
          </a:ln>
        </p:spPr>
      </p:sp>
      <p:sp>
        <p:nvSpPr>
          <p:cNvPr id="23" name="Text 21"/>
          <p:cNvSpPr/>
          <p:nvPr/>
        </p:nvSpPr>
        <p:spPr>
          <a:xfrm>
            <a:off x="3502152" y="2990088"/>
            <a:ext cx="2542032"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Prospective Clinical Validation</a:t>
            </a:r>
            <a:endParaRPr lang="en-US" sz="1100" dirty="0"/>
          </a:p>
        </p:txBody>
      </p:sp>
      <p:sp>
        <p:nvSpPr>
          <p:cNvPr id="24" name="Text 22"/>
          <p:cNvSpPr/>
          <p:nvPr/>
        </p:nvSpPr>
        <p:spPr>
          <a:xfrm>
            <a:off x="3520440" y="3401568"/>
            <a:ext cx="251460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Multi-ethnic, multi-device dataset validation and randomized clinical trial to establish real-world screening performance</a:t>
            </a:r>
            <a:endParaRPr lang="en-US" sz="1000" dirty="0"/>
          </a:p>
        </p:txBody>
      </p:sp>
      <p:sp>
        <p:nvSpPr>
          <p:cNvPr id="25" name="Shape 23"/>
          <p:cNvSpPr/>
          <p:nvPr/>
        </p:nvSpPr>
        <p:spPr>
          <a:xfrm>
            <a:off x="6400800" y="2926080"/>
            <a:ext cx="2697480" cy="1783080"/>
          </a:xfrm>
          <a:prstGeom prst="rect">
            <a:avLst/>
          </a:prstGeom>
          <a:solidFill>
            <a:srgbClr val="F0F7FA"/>
          </a:solidFill>
          <a:ln w="19050">
            <a:solidFill>
              <a:srgbClr val="02C39A"/>
            </a:solidFill>
            <a:prstDash val="solid"/>
          </a:ln>
          <a:effectLst>
            <a:outerShdw blurRad="63500" dist="25400" dir="8100000" algn="bl" rotWithShape="0">
              <a:srgbClr val="000000">
                <a:alpha val="12000"/>
              </a:srgbClr>
            </a:outerShdw>
          </a:effectLst>
        </p:spPr>
      </p:sp>
      <p:sp>
        <p:nvSpPr>
          <p:cNvPr id="26" name="Shape 24"/>
          <p:cNvSpPr/>
          <p:nvPr/>
        </p:nvSpPr>
        <p:spPr>
          <a:xfrm>
            <a:off x="6400800" y="2926080"/>
            <a:ext cx="2697480" cy="411480"/>
          </a:xfrm>
          <a:prstGeom prst="rect">
            <a:avLst/>
          </a:prstGeom>
          <a:solidFill>
            <a:srgbClr val="02C39A"/>
          </a:solidFill>
          <a:ln w="12700">
            <a:solidFill>
              <a:srgbClr val="02C39A"/>
            </a:solidFill>
            <a:prstDash val="solid"/>
          </a:ln>
        </p:spPr>
      </p:sp>
      <p:sp>
        <p:nvSpPr>
          <p:cNvPr id="27" name="Text 25"/>
          <p:cNvSpPr/>
          <p:nvPr/>
        </p:nvSpPr>
        <p:spPr>
          <a:xfrm>
            <a:off x="6473952" y="2990088"/>
            <a:ext cx="2542032"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Longitudinal Analysis</a:t>
            </a:r>
            <a:endParaRPr lang="en-US" sz="1100" dirty="0"/>
          </a:p>
        </p:txBody>
      </p:sp>
      <p:sp>
        <p:nvSpPr>
          <p:cNvPr id="28" name="Text 26"/>
          <p:cNvSpPr/>
          <p:nvPr/>
        </p:nvSpPr>
        <p:spPr>
          <a:xfrm>
            <a:off x="6492240" y="3401568"/>
            <a:ext cx="251460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Extend to disease progression modeling — predict DR severity change over time using graph temporal reasoning</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Shape 1"/>
          <p:cNvSpPr/>
          <p:nvPr/>
        </p:nvSpPr>
        <p:spPr>
          <a:xfrm>
            <a:off x="0" y="5065776"/>
            <a:ext cx="9144000" cy="73152"/>
          </a:xfrm>
          <a:prstGeom prst="rect">
            <a:avLst/>
          </a:prstGeom>
          <a:solidFill>
            <a:srgbClr val="02C39A"/>
          </a:solidFill>
          <a:ln w="12700">
            <a:solidFill>
              <a:srgbClr val="02C39A"/>
            </a:solidFill>
            <a:prstDash val="solid"/>
          </a:ln>
        </p:spPr>
      </p:sp>
      <p:sp>
        <p:nvSpPr>
          <p:cNvPr id="4" name="Text 2"/>
          <p:cNvSpPr/>
          <p:nvPr/>
        </p:nvSpPr>
        <p:spPr>
          <a:xfrm>
            <a:off x="274320" y="837203"/>
            <a:ext cx="8229600" cy="1765495"/>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8" name="Shape 6"/>
          <p:cNvSpPr/>
          <p:nvPr/>
        </p:nvSpPr>
        <p:spPr>
          <a:xfrm>
            <a:off x="731520" y="3931920"/>
            <a:ext cx="1645920" cy="868680"/>
          </a:xfrm>
          <a:prstGeom prst="rect">
            <a:avLst/>
          </a:prstGeom>
          <a:solidFill>
            <a:srgbClr val="0D7A8A"/>
          </a:solidFill>
          <a:ln w="12700">
            <a:solidFill>
              <a:srgbClr val="0D7A8A"/>
            </a:solidFill>
            <a:prstDash val="solid"/>
          </a:ln>
          <a:effectLst>
            <a:outerShdw blurRad="63500" dist="25400" dir="8100000" algn="bl" rotWithShape="0">
              <a:srgbClr val="000000">
                <a:alpha val="12000"/>
              </a:srgbClr>
            </a:outerShdw>
          </a:effectLst>
        </p:spPr>
      </p:sp>
      <p:sp>
        <p:nvSpPr>
          <p:cNvPr id="9" name="Text 7"/>
          <p:cNvSpPr/>
          <p:nvPr/>
        </p:nvSpPr>
        <p:spPr>
          <a:xfrm>
            <a:off x="731520" y="3959352"/>
            <a:ext cx="16459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91.5%</a:t>
            </a:r>
            <a:endParaRPr lang="en-US" sz="2200" dirty="0"/>
          </a:p>
        </p:txBody>
      </p:sp>
      <p:sp>
        <p:nvSpPr>
          <p:cNvPr id="10" name="Text 8"/>
          <p:cNvSpPr/>
          <p:nvPr/>
        </p:nvSpPr>
        <p:spPr>
          <a:xfrm>
            <a:off x="731520" y="4416552"/>
            <a:ext cx="1645920" cy="347472"/>
          </a:xfrm>
          <a:prstGeom prst="rect">
            <a:avLst/>
          </a:prstGeom>
          <a:noFill/>
          <a:ln/>
        </p:spPr>
        <p:txBody>
          <a:bodyPr wrap="square" rtlCol="0" anchor="ctr"/>
          <a:lstStyle/>
          <a:p>
            <a:pPr marL="0" indent="0" algn="ctr">
              <a:buNone/>
            </a:pPr>
            <a:r>
              <a:rPr lang="en-US" sz="1100" dirty="0">
                <a:solidFill>
                  <a:srgbClr val="A8D8E8"/>
                </a:solidFill>
                <a:latin typeface="Calibri" pitchFamily="34" charset="0"/>
                <a:ea typeface="Calibri" pitchFamily="34" charset="-122"/>
                <a:cs typeface="Calibri" pitchFamily="34" charset="-120"/>
              </a:rPr>
              <a:t>Accuracy</a:t>
            </a:r>
            <a:endParaRPr lang="en-US" sz="1100" dirty="0"/>
          </a:p>
        </p:txBody>
      </p:sp>
      <p:sp>
        <p:nvSpPr>
          <p:cNvPr id="11" name="Shape 9"/>
          <p:cNvSpPr/>
          <p:nvPr/>
        </p:nvSpPr>
        <p:spPr>
          <a:xfrm>
            <a:off x="2743200" y="3931920"/>
            <a:ext cx="1645920" cy="868680"/>
          </a:xfrm>
          <a:prstGeom prst="rect">
            <a:avLst/>
          </a:prstGeom>
          <a:solidFill>
            <a:srgbClr val="0D7A8A"/>
          </a:solidFill>
          <a:ln w="12700">
            <a:solidFill>
              <a:srgbClr val="0D7A8A"/>
            </a:solidFill>
            <a:prstDash val="solid"/>
          </a:ln>
          <a:effectLst>
            <a:outerShdw blurRad="63500" dist="25400" dir="8100000" algn="bl" rotWithShape="0">
              <a:srgbClr val="000000">
                <a:alpha val="12000"/>
              </a:srgbClr>
            </a:outerShdw>
          </a:effectLst>
        </p:spPr>
      </p:sp>
      <p:sp>
        <p:nvSpPr>
          <p:cNvPr id="12" name="Text 10"/>
          <p:cNvSpPr/>
          <p:nvPr/>
        </p:nvSpPr>
        <p:spPr>
          <a:xfrm>
            <a:off x="2743200" y="3959352"/>
            <a:ext cx="16459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0.96</a:t>
            </a:r>
            <a:endParaRPr lang="en-US" sz="2200" dirty="0"/>
          </a:p>
        </p:txBody>
      </p:sp>
      <p:sp>
        <p:nvSpPr>
          <p:cNvPr id="13" name="Text 11"/>
          <p:cNvSpPr/>
          <p:nvPr/>
        </p:nvSpPr>
        <p:spPr>
          <a:xfrm>
            <a:off x="2743200" y="4416552"/>
            <a:ext cx="1645920" cy="347472"/>
          </a:xfrm>
          <a:prstGeom prst="rect">
            <a:avLst/>
          </a:prstGeom>
          <a:noFill/>
          <a:ln/>
        </p:spPr>
        <p:txBody>
          <a:bodyPr wrap="square" rtlCol="0" anchor="ctr"/>
          <a:lstStyle/>
          <a:p>
            <a:pPr marL="0" indent="0" algn="ctr">
              <a:buNone/>
            </a:pPr>
            <a:r>
              <a:rPr lang="en-US" sz="1100" dirty="0">
                <a:solidFill>
                  <a:srgbClr val="A8D8E8"/>
                </a:solidFill>
                <a:latin typeface="Calibri" pitchFamily="34" charset="0"/>
                <a:ea typeface="Calibri" pitchFamily="34" charset="-122"/>
                <a:cs typeface="Calibri" pitchFamily="34" charset="-120"/>
              </a:rPr>
              <a:t>QWK</a:t>
            </a:r>
            <a:endParaRPr lang="en-US" sz="1100" dirty="0"/>
          </a:p>
        </p:txBody>
      </p:sp>
      <p:sp>
        <p:nvSpPr>
          <p:cNvPr id="14" name="Shape 12"/>
          <p:cNvSpPr/>
          <p:nvPr/>
        </p:nvSpPr>
        <p:spPr>
          <a:xfrm>
            <a:off x="4754880" y="3931920"/>
            <a:ext cx="1645920" cy="868680"/>
          </a:xfrm>
          <a:prstGeom prst="rect">
            <a:avLst/>
          </a:prstGeom>
          <a:solidFill>
            <a:srgbClr val="0D7A8A"/>
          </a:solidFill>
          <a:ln w="12700">
            <a:solidFill>
              <a:srgbClr val="0D7A8A"/>
            </a:solidFill>
            <a:prstDash val="solid"/>
          </a:ln>
          <a:effectLst>
            <a:outerShdw blurRad="63500" dist="25400" dir="8100000" algn="bl" rotWithShape="0">
              <a:srgbClr val="000000">
                <a:alpha val="12000"/>
              </a:srgbClr>
            </a:outerShdw>
          </a:effectLst>
        </p:spPr>
      </p:sp>
      <p:sp>
        <p:nvSpPr>
          <p:cNvPr id="15" name="Text 13"/>
          <p:cNvSpPr/>
          <p:nvPr/>
        </p:nvSpPr>
        <p:spPr>
          <a:xfrm>
            <a:off x="4754880" y="3959352"/>
            <a:ext cx="16459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0.91</a:t>
            </a:r>
            <a:endParaRPr lang="en-US" sz="2200" dirty="0"/>
          </a:p>
        </p:txBody>
      </p:sp>
      <p:sp>
        <p:nvSpPr>
          <p:cNvPr id="16" name="Text 14"/>
          <p:cNvSpPr/>
          <p:nvPr/>
        </p:nvSpPr>
        <p:spPr>
          <a:xfrm>
            <a:off x="4754880" y="4416552"/>
            <a:ext cx="1645920" cy="347472"/>
          </a:xfrm>
          <a:prstGeom prst="rect">
            <a:avLst/>
          </a:prstGeom>
          <a:noFill/>
          <a:ln/>
        </p:spPr>
        <p:txBody>
          <a:bodyPr wrap="square" rtlCol="0" anchor="ctr"/>
          <a:lstStyle/>
          <a:p>
            <a:pPr marL="0" indent="0" algn="ctr">
              <a:buNone/>
            </a:pPr>
            <a:r>
              <a:rPr lang="en-US" sz="1100" dirty="0">
                <a:solidFill>
                  <a:srgbClr val="A8D8E8"/>
                </a:solidFill>
                <a:latin typeface="Calibri" pitchFamily="34" charset="0"/>
                <a:ea typeface="Calibri" pitchFamily="34" charset="-122"/>
                <a:cs typeface="Calibri" pitchFamily="34" charset="-120"/>
              </a:rPr>
              <a:t>F1 Score</a:t>
            </a:r>
            <a:endParaRPr lang="en-US" sz="1100" dirty="0"/>
          </a:p>
        </p:txBody>
      </p:sp>
      <p:sp>
        <p:nvSpPr>
          <p:cNvPr id="17" name="Shape 15"/>
          <p:cNvSpPr/>
          <p:nvPr/>
        </p:nvSpPr>
        <p:spPr>
          <a:xfrm>
            <a:off x="6766560" y="3931920"/>
            <a:ext cx="1645920" cy="868680"/>
          </a:xfrm>
          <a:prstGeom prst="rect">
            <a:avLst/>
          </a:prstGeom>
          <a:solidFill>
            <a:srgbClr val="0D7A8A"/>
          </a:solidFill>
          <a:ln w="12700">
            <a:solidFill>
              <a:srgbClr val="0D7A8A"/>
            </a:solidFill>
            <a:prstDash val="solid"/>
          </a:ln>
          <a:effectLst>
            <a:outerShdw blurRad="63500" dist="25400" dir="8100000" algn="bl" rotWithShape="0">
              <a:srgbClr val="000000">
                <a:alpha val="12000"/>
              </a:srgbClr>
            </a:outerShdw>
          </a:effectLst>
        </p:spPr>
      </p:sp>
      <p:sp>
        <p:nvSpPr>
          <p:cNvPr id="18" name="Text 16"/>
          <p:cNvSpPr/>
          <p:nvPr/>
        </p:nvSpPr>
        <p:spPr>
          <a:xfrm>
            <a:off x="6766560" y="3959352"/>
            <a:ext cx="16459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9" name="Text 17"/>
          <p:cNvSpPr/>
          <p:nvPr/>
        </p:nvSpPr>
        <p:spPr>
          <a:xfrm>
            <a:off x="6766560" y="4416552"/>
            <a:ext cx="1645920" cy="347472"/>
          </a:xfrm>
          <a:prstGeom prst="rect">
            <a:avLst/>
          </a:prstGeom>
          <a:noFill/>
          <a:ln/>
        </p:spPr>
        <p:txBody>
          <a:bodyPr wrap="square" rtlCol="0" anchor="ctr"/>
          <a:lstStyle/>
          <a:p>
            <a:pPr marL="0" indent="0" algn="ctr">
              <a:buNone/>
            </a:pPr>
            <a:r>
              <a:rPr lang="en-US" sz="1100" dirty="0">
                <a:solidFill>
                  <a:srgbClr val="A8D8E8"/>
                </a:solidFill>
                <a:latin typeface="Calibri" pitchFamily="34" charset="0"/>
                <a:ea typeface="Calibri" pitchFamily="34" charset="-122"/>
                <a:cs typeface="Calibri" pitchFamily="34" charset="-120"/>
              </a:rPr>
              <a:t>APTOS 2019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4205</Words>
  <Application>Microsoft Office PowerPoint</Application>
  <PresentationFormat>On-screen Show (16:9)</PresentationFormat>
  <Paragraphs>575</Paragraphs>
  <Slides>25</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ReGraNet: Retinal Graph Reasoning Network</dc:title>
  <dc:subject>PptxGenJS Presentation</dc:subject>
  <dc:creator>Ridham Chaudhary, Divyavardhan Singh, Sirichandana, Kishor Upla</dc:creator>
  <cp:lastModifiedBy>Gosika Sirichandana</cp:lastModifiedBy>
  <cp:revision>3</cp:revision>
  <dcterms:created xsi:type="dcterms:W3CDTF">2026-04-22T13:39:27Z</dcterms:created>
  <dcterms:modified xsi:type="dcterms:W3CDTF">2026-04-22T18:23:52Z</dcterms:modified>
</cp:coreProperties>
</file>